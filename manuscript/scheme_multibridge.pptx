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60" r:id="rId5"/>
    <p:sldId id="259" r:id="rId6"/>
  </p:sldIdLst>
  <p:sldSz cx="130048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12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98"/>
    <p:restoredTop sz="94626"/>
  </p:normalViewPr>
  <p:slideViewPr>
    <p:cSldViewPr snapToGrid="0" snapToObjects="1">
      <p:cViewPr>
        <p:scale>
          <a:sx n="100" d="100"/>
          <a:sy n="100" d="100"/>
        </p:scale>
        <p:origin x="160" y="472"/>
      </p:cViewPr>
      <p:guideLst>
        <p:guide orient="horz" pos="2592"/>
        <p:guide pos="12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197187"/>
            <a:ext cx="9753600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42174"/>
            <a:ext cx="97536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8/17/22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8/17/22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1823721"/>
            <a:ext cx="11216640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07" y="4895428"/>
            <a:ext cx="11216640" cy="16001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8/17/22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59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1947333"/>
            <a:ext cx="55270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1947333"/>
            <a:ext cx="55270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8/17/22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6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389467"/>
            <a:ext cx="1121664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775" y="1793241"/>
            <a:ext cx="5501639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775" y="2672080"/>
            <a:ext cx="5501639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680" y="1793241"/>
            <a:ext cx="5528734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680" y="2672080"/>
            <a:ext cx="5528734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8/17/22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43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8/17/22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3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8/17/22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15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487680"/>
            <a:ext cx="4194386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734" y="1053254"/>
            <a:ext cx="6583680" cy="5198533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194560"/>
            <a:ext cx="4194386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8/17/22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487680"/>
            <a:ext cx="4194386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734" y="1053254"/>
            <a:ext cx="6583680" cy="5198533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194560"/>
            <a:ext cx="4194386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8/17/22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6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8/17/22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2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0" y="389467"/>
            <a:ext cx="280416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080" y="389467"/>
            <a:ext cx="824992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1784-E1B4-8C4A-A52C-8A1F4FEBB89F}" type="datetimeFigureOut">
              <a:rPr lang="en-US" smtClean="0"/>
              <a:t>8/17/22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1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389467"/>
            <a:ext cx="1121664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1947333"/>
            <a:ext cx="1121664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6780107"/>
            <a:ext cx="29260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21784-E1B4-8C4A-A52C-8A1F4FEBB89F}" type="datetimeFigureOut">
              <a:rPr lang="en-US" smtClean="0"/>
              <a:t>8/17/22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6780107"/>
            <a:ext cx="43891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6780107"/>
            <a:ext cx="29260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A5411-3BA0-2441-B97B-3656D19A4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6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" Type="http://schemas.openxmlformats.org/officeDocument/2006/relationships/image" Target="../media/image38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24" Type="http://schemas.openxmlformats.org/officeDocument/2006/relationships/image" Target="../media/image59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Relationship Id="rId27" Type="http://schemas.openxmlformats.org/officeDocument/2006/relationships/image" Target="../media/image6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3" Type="http://schemas.openxmlformats.org/officeDocument/2006/relationships/image" Target="../media/image76.emf"/><Relationship Id="rId7" Type="http://schemas.openxmlformats.org/officeDocument/2006/relationships/image" Target="../media/image80.emf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emf"/><Relationship Id="rId11" Type="http://schemas.openxmlformats.org/officeDocument/2006/relationships/image" Target="../media/image84.png"/><Relationship Id="rId5" Type="http://schemas.openxmlformats.org/officeDocument/2006/relationships/image" Target="../media/image78.emf"/><Relationship Id="rId10" Type="http://schemas.openxmlformats.org/officeDocument/2006/relationships/image" Target="../media/image83.png"/><Relationship Id="rId4" Type="http://schemas.openxmlformats.org/officeDocument/2006/relationships/image" Target="../media/image77.emf"/><Relationship Id="rId9" Type="http://schemas.openxmlformats.org/officeDocument/2006/relationships/image" Target="../media/image8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A17D07C4-3AA3-F140-838D-C33F1AB5BAC6}"/>
              </a:ext>
            </a:extLst>
          </p:cNvPr>
          <p:cNvSpPr txBox="1"/>
          <p:nvPr/>
        </p:nvSpPr>
        <p:spPr>
          <a:xfrm>
            <a:off x="4056173" y="5444891"/>
            <a:ext cx="1793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Posterior median and credible interval of marginal densities under encompassing model 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7DA08375-CD8A-564D-BC6A-081EBF4F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22498" y="5390770"/>
            <a:ext cx="1793526" cy="1741727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73496A4-2CED-C944-96F6-1BF70AE9A925}"/>
              </a:ext>
            </a:extLst>
          </p:cNvPr>
          <p:cNvSpPr/>
          <p:nvPr/>
        </p:nvSpPr>
        <p:spPr>
          <a:xfrm>
            <a:off x="4756250" y="1111303"/>
            <a:ext cx="4589153" cy="986949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212B9F-AFC5-444F-91DD-B39C3717A6DA}"/>
              </a:ext>
            </a:extLst>
          </p:cNvPr>
          <p:cNvSpPr txBox="1"/>
          <p:nvPr/>
        </p:nvSpPr>
        <p:spPr>
          <a:xfrm>
            <a:off x="7486871" y="3666262"/>
            <a:ext cx="2288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Samples from constrained densities used for bridge sampling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6E855D5-798E-844C-9D97-18388265A108}"/>
              </a:ext>
            </a:extLst>
          </p:cNvPr>
          <p:cNvCxnSpPr>
            <a:cxnSpLocks/>
            <a:stCxn id="16" idx="2"/>
            <a:endCxn id="227" idx="0"/>
          </p:cNvCxnSpPr>
          <p:nvPr/>
        </p:nvCxnSpPr>
        <p:spPr>
          <a:xfrm flipH="1">
            <a:off x="1994270" y="2098252"/>
            <a:ext cx="5056557" cy="397619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7C8ECD6-A655-9B44-B242-CC896AE0D909}"/>
              </a:ext>
            </a:extLst>
          </p:cNvPr>
          <p:cNvSpPr txBox="1"/>
          <p:nvPr/>
        </p:nvSpPr>
        <p:spPr>
          <a:xfrm>
            <a:off x="6021326" y="228028"/>
            <a:ext cx="2115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mult_bf_informed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binom_bf_informed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65AB33-703B-E84E-B2D6-8F2ACBFAD1D2}"/>
              </a:ext>
            </a:extLst>
          </p:cNvPr>
          <p:cNvSpPr txBox="1"/>
          <p:nvPr/>
        </p:nvSpPr>
        <p:spPr>
          <a:xfrm>
            <a:off x="1638344" y="6109243"/>
            <a:ext cx="829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3065B0-A3A2-EA4F-A216-D128FB66202A}"/>
              </a:ext>
            </a:extLst>
          </p:cNvPr>
          <p:cNvSpPr txBox="1"/>
          <p:nvPr/>
        </p:nvSpPr>
        <p:spPr>
          <a:xfrm>
            <a:off x="1402761" y="2797181"/>
            <a:ext cx="115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23277A-964E-FE46-9045-42D8A2E4B1B9}"/>
              </a:ext>
            </a:extLst>
          </p:cNvPr>
          <p:cNvSpPr txBox="1"/>
          <p:nvPr/>
        </p:nvSpPr>
        <p:spPr>
          <a:xfrm>
            <a:off x="1171924" y="382634"/>
            <a:ext cx="1909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x, n,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a, b,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factor_levels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EC9212-3D23-214E-A37C-091887891EBD}"/>
              </a:ext>
            </a:extLst>
          </p:cNvPr>
          <p:cNvSpPr txBox="1"/>
          <p:nvPr/>
        </p:nvSpPr>
        <p:spPr>
          <a:xfrm>
            <a:off x="591108" y="3658793"/>
            <a:ext cx="3114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Results and posterior parameter estimates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662C07-79BA-3B46-80E6-A2EB92DD1710}"/>
              </a:ext>
            </a:extLst>
          </p:cNvPr>
          <p:cNvCxnSpPr>
            <a:cxnSpLocks/>
            <a:stCxn id="224" idx="2"/>
            <a:endCxn id="16" idx="0"/>
          </p:cNvCxnSpPr>
          <p:nvPr/>
        </p:nvCxnSpPr>
        <p:spPr>
          <a:xfrm>
            <a:off x="7049199" y="937751"/>
            <a:ext cx="1628" cy="173552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6032D36-E6BF-934F-941F-F7E83FB8B697}"/>
              </a:ext>
            </a:extLst>
          </p:cNvPr>
          <p:cNvSpPr txBox="1"/>
          <p:nvPr/>
        </p:nvSpPr>
        <p:spPr>
          <a:xfrm>
            <a:off x="4777449" y="2797953"/>
            <a:ext cx="1688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bayes_factor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649484-CB76-5D47-A357-9201A0F411CE}"/>
              </a:ext>
            </a:extLst>
          </p:cNvPr>
          <p:cNvSpPr txBox="1"/>
          <p:nvPr/>
        </p:nvSpPr>
        <p:spPr>
          <a:xfrm>
            <a:off x="7934452" y="2797181"/>
            <a:ext cx="115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samples()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344729A-CA76-7E4D-8C70-FF6770520970}"/>
              </a:ext>
            </a:extLst>
          </p:cNvPr>
          <p:cNvCxnSpPr>
            <a:cxnSpLocks/>
            <a:stCxn id="16" idx="2"/>
            <a:endCxn id="229" idx="0"/>
          </p:cNvCxnSpPr>
          <p:nvPr/>
        </p:nvCxnSpPr>
        <p:spPr>
          <a:xfrm>
            <a:off x="7050827" y="2098252"/>
            <a:ext cx="1494461" cy="397619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5D4143A-F513-4043-B4F4-EB786B985CF2}"/>
              </a:ext>
            </a:extLst>
          </p:cNvPr>
          <p:cNvCxnSpPr>
            <a:cxnSpLocks/>
            <a:endCxn id="228" idx="0"/>
          </p:cNvCxnSpPr>
          <p:nvPr/>
        </p:nvCxnSpPr>
        <p:spPr>
          <a:xfrm flipH="1">
            <a:off x="5607298" y="2098252"/>
            <a:ext cx="1641835" cy="397619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23B26E1-8747-F642-A1FC-B652160626AA}"/>
              </a:ext>
            </a:extLst>
          </p:cNvPr>
          <p:cNvSpPr txBox="1"/>
          <p:nvPr/>
        </p:nvSpPr>
        <p:spPr>
          <a:xfrm>
            <a:off x="4507315" y="3688413"/>
            <a:ext cx="2211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Information about computed Bayes factors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78292592-14DF-A849-9108-FEB815BE0869}"/>
              </a:ext>
            </a:extLst>
          </p:cNvPr>
          <p:cNvSpPr/>
          <p:nvPr/>
        </p:nvSpPr>
        <p:spPr>
          <a:xfrm>
            <a:off x="1023809" y="18765"/>
            <a:ext cx="2195219" cy="990816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D528652-3B79-C644-B1DC-7339C985D507}"/>
              </a:ext>
            </a:extLst>
          </p:cNvPr>
          <p:cNvCxnSpPr>
            <a:cxnSpLocks/>
            <a:stCxn id="62" idx="3"/>
            <a:endCxn id="224" idx="1"/>
          </p:cNvCxnSpPr>
          <p:nvPr/>
        </p:nvCxnSpPr>
        <p:spPr>
          <a:xfrm flipV="1">
            <a:off x="3219028" y="483389"/>
            <a:ext cx="2220111" cy="30784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710710A-090E-4A44-B56F-D924815F332D}"/>
              </a:ext>
            </a:extLst>
          </p:cNvPr>
          <p:cNvSpPr txBox="1"/>
          <p:nvPr/>
        </p:nvSpPr>
        <p:spPr>
          <a:xfrm>
            <a:off x="1231035" y="4279774"/>
            <a:ext cx="482824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$bf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00B983C-9424-0348-B5B2-DEE4DC33793A}"/>
              </a:ext>
            </a:extLst>
          </p:cNvPr>
          <p:cNvSpPr txBox="1"/>
          <p:nvPr/>
        </p:nvSpPr>
        <p:spPr>
          <a:xfrm>
            <a:off x="5299802" y="1708403"/>
            <a:ext cx="1688283" cy="307777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bridge_output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18F166-C8A8-7B46-A9A6-02E939A554EE}"/>
              </a:ext>
            </a:extLst>
          </p:cNvPr>
          <p:cNvSpPr txBox="1"/>
          <p:nvPr/>
        </p:nvSpPr>
        <p:spPr>
          <a:xfrm>
            <a:off x="4855108" y="1295067"/>
            <a:ext cx="1043876" cy="307777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bf_list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2BA7A21-C6DC-BD4B-9864-99F1E165AE06}"/>
              </a:ext>
            </a:extLst>
          </p:cNvPr>
          <p:cNvSpPr txBox="1"/>
          <p:nvPr/>
        </p:nvSpPr>
        <p:spPr>
          <a:xfrm>
            <a:off x="7639622" y="1293291"/>
            <a:ext cx="1580882" cy="307777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$restrictions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F333D9-2260-454C-B341-BD34F954011C}"/>
              </a:ext>
            </a:extLst>
          </p:cNvPr>
          <p:cNvSpPr txBox="1"/>
          <p:nvPr/>
        </p:nvSpPr>
        <p:spPr>
          <a:xfrm>
            <a:off x="7175390" y="1686350"/>
            <a:ext cx="1043876" cy="307777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$samples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63D330D-805E-844E-9220-5F6DCF6C1909}"/>
              </a:ext>
            </a:extLst>
          </p:cNvPr>
          <p:cNvCxnSpPr>
            <a:cxnSpLocks/>
            <a:stCxn id="16" idx="2"/>
            <a:endCxn id="230" idx="0"/>
          </p:cNvCxnSpPr>
          <p:nvPr/>
        </p:nvCxnSpPr>
        <p:spPr>
          <a:xfrm>
            <a:off x="7050827" y="2098252"/>
            <a:ext cx="4229295" cy="395818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DE0E08C6-CD58-F446-BA56-7A2704FEBF6A}"/>
              </a:ext>
            </a:extLst>
          </p:cNvPr>
          <p:cNvSpPr txBox="1"/>
          <p:nvPr/>
        </p:nvSpPr>
        <p:spPr>
          <a:xfrm>
            <a:off x="10558143" y="2797181"/>
            <a:ext cx="1770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bridge_ouput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EFFC9F9-63AC-1F4F-AD85-BB918557776D}"/>
              </a:ext>
            </a:extLst>
          </p:cNvPr>
          <p:cNvSpPr txBox="1"/>
          <p:nvPr/>
        </p:nvSpPr>
        <p:spPr>
          <a:xfrm>
            <a:off x="9918122" y="3711918"/>
            <a:ext cx="2631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Bridge sampling output and error measures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20C9F1E-3C18-444A-906F-F1BEA499BA51}"/>
              </a:ext>
            </a:extLst>
          </p:cNvPr>
          <p:cNvSpPr txBox="1"/>
          <p:nvPr/>
        </p:nvSpPr>
        <p:spPr>
          <a:xfrm>
            <a:off x="6086263" y="1293291"/>
            <a:ext cx="1366080" cy="307777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cred_level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40A82EF3-E1B8-1D47-9E64-1FE76061A729}"/>
              </a:ext>
            </a:extLst>
          </p:cNvPr>
          <p:cNvSpPr/>
          <p:nvPr/>
        </p:nvSpPr>
        <p:spPr>
          <a:xfrm>
            <a:off x="435351" y="3597899"/>
            <a:ext cx="3114541" cy="2048327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FE63E81-7833-D741-808B-05861382F7CB}"/>
              </a:ext>
            </a:extLst>
          </p:cNvPr>
          <p:cNvCxnSpPr>
            <a:cxnSpLocks/>
            <a:stCxn id="227" idx="2"/>
            <a:endCxn id="168" idx="0"/>
          </p:cNvCxnSpPr>
          <p:nvPr/>
        </p:nvCxnSpPr>
        <p:spPr>
          <a:xfrm flipH="1">
            <a:off x="1992622" y="3401696"/>
            <a:ext cx="1648" cy="196203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216F2E31-0C85-0644-8956-92F44F21D041}"/>
              </a:ext>
            </a:extLst>
          </p:cNvPr>
          <p:cNvCxnSpPr>
            <a:cxnSpLocks/>
            <a:stCxn id="168" idx="2"/>
            <a:endCxn id="136" idx="0"/>
          </p:cNvCxnSpPr>
          <p:nvPr/>
        </p:nvCxnSpPr>
        <p:spPr>
          <a:xfrm>
            <a:off x="1992622" y="5646226"/>
            <a:ext cx="5169" cy="161829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BECE3FB3-3DD3-F045-B40F-5692E688AFFB}"/>
              </a:ext>
            </a:extLst>
          </p:cNvPr>
          <p:cNvCxnSpPr>
            <a:cxnSpLocks/>
            <a:stCxn id="230" idx="2"/>
            <a:endCxn id="268" idx="0"/>
          </p:cNvCxnSpPr>
          <p:nvPr/>
        </p:nvCxnSpPr>
        <p:spPr>
          <a:xfrm>
            <a:off x="11280122" y="3399895"/>
            <a:ext cx="8225" cy="221789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Diamond 223">
            <a:extLst>
              <a:ext uri="{FF2B5EF4-FFF2-40B4-BE49-F238E27FC236}">
                <a16:creationId xmlns:a16="http://schemas.microsoft.com/office/drawing/2014/main" id="{57AFD143-7A16-A84A-8BC0-1121CBB0ECCC}"/>
              </a:ext>
            </a:extLst>
          </p:cNvPr>
          <p:cNvSpPr/>
          <p:nvPr/>
        </p:nvSpPr>
        <p:spPr>
          <a:xfrm>
            <a:off x="5439139" y="29026"/>
            <a:ext cx="3220119" cy="908725"/>
          </a:xfrm>
          <a:prstGeom prst="diamond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Diamond 226">
            <a:extLst>
              <a:ext uri="{FF2B5EF4-FFF2-40B4-BE49-F238E27FC236}">
                <a16:creationId xmlns:a16="http://schemas.microsoft.com/office/drawing/2014/main" id="{209270F7-BDA0-554A-B924-3F203BAB73A6}"/>
              </a:ext>
            </a:extLst>
          </p:cNvPr>
          <p:cNvSpPr/>
          <p:nvPr/>
        </p:nvSpPr>
        <p:spPr>
          <a:xfrm>
            <a:off x="894287" y="2495871"/>
            <a:ext cx="2199966" cy="905825"/>
          </a:xfrm>
          <a:prstGeom prst="diamond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Diamond 227">
            <a:extLst>
              <a:ext uri="{FF2B5EF4-FFF2-40B4-BE49-F238E27FC236}">
                <a16:creationId xmlns:a16="http://schemas.microsoft.com/office/drawing/2014/main" id="{21BEA04D-21C7-8E4E-BD4E-669B8F2B096C}"/>
              </a:ext>
            </a:extLst>
          </p:cNvPr>
          <p:cNvSpPr/>
          <p:nvPr/>
        </p:nvSpPr>
        <p:spPr>
          <a:xfrm>
            <a:off x="4507315" y="2495871"/>
            <a:ext cx="2199966" cy="905825"/>
          </a:xfrm>
          <a:prstGeom prst="diamond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30C3EB57-C315-BC49-8B72-63C073C2629C}"/>
              </a:ext>
            </a:extLst>
          </p:cNvPr>
          <p:cNvSpPr/>
          <p:nvPr/>
        </p:nvSpPr>
        <p:spPr>
          <a:xfrm>
            <a:off x="7445305" y="2495871"/>
            <a:ext cx="2199966" cy="905825"/>
          </a:xfrm>
          <a:prstGeom prst="diamond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3B5AAA9D-0B9A-354C-91FF-CE916CBDAFFC}"/>
              </a:ext>
            </a:extLst>
          </p:cNvPr>
          <p:cNvSpPr/>
          <p:nvPr/>
        </p:nvSpPr>
        <p:spPr>
          <a:xfrm>
            <a:off x="10180139" y="2494070"/>
            <a:ext cx="2199966" cy="905825"/>
          </a:xfrm>
          <a:prstGeom prst="diamond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DBCE4272-3B9F-214D-925E-7E67C7347446}"/>
              </a:ext>
            </a:extLst>
          </p:cNvPr>
          <p:cNvSpPr txBox="1"/>
          <p:nvPr/>
        </p:nvSpPr>
        <p:spPr>
          <a:xfrm>
            <a:off x="586046" y="4277399"/>
            <a:ext cx="582211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hyp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A6B9B02F-BD27-DB41-8BEE-72D946401979}"/>
              </a:ext>
            </a:extLst>
          </p:cNvPr>
          <p:cNvSpPr txBox="1"/>
          <p:nvPr/>
        </p:nvSpPr>
        <p:spPr>
          <a:xfrm>
            <a:off x="2051254" y="4980363"/>
            <a:ext cx="1277914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cred_level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3442C8E9-4DBF-904B-B2F8-1D951E0C040C}"/>
              </a:ext>
            </a:extLst>
          </p:cNvPr>
          <p:cNvSpPr txBox="1"/>
          <p:nvPr/>
        </p:nvSpPr>
        <p:spPr>
          <a:xfrm>
            <a:off x="2422729" y="4276273"/>
            <a:ext cx="979755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bf_type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0499D10-4568-E644-ADEB-563F95B92BB3}"/>
              </a:ext>
            </a:extLst>
          </p:cNvPr>
          <p:cNvSpPr txBox="1"/>
          <p:nvPr/>
        </p:nvSpPr>
        <p:spPr>
          <a:xfrm>
            <a:off x="1451951" y="5319464"/>
            <a:ext cx="1178528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$estimates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5D29AFB6-4FD0-3747-BA11-DDF0775C186B}"/>
              </a:ext>
            </a:extLst>
          </p:cNvPr>
          <p:cNvSpPr txBox="1"/>
          <p:nvPr/>
        </p:nvSpPr>
        <p:spPr>
          <a:xfrm>
            <a:off x="10843267" y="4386927"/>
            <a:ext cx="780983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$niter</a:t>
            </a:r>
          </a:p>
        </p:txBody>
      </p:sp>
      <p:sp>
        <p:nvSpPr>
          <p:cNvPr id="268" name="Rounded Rectangle 267">
            <a:extLst>
              <a:ext uri="{FF2B5EF4-FFF2-40B4-BE49-F238E27FC236}">
                <a16:creationId xmlns:a16="http://schemas.microsoft.com/office/drawing/2014/main" id="{6A63EF4A-A841-4F46-AC38-2ADC748464BE}"/>
              </a:ext>
            </a:extLst>
          </p:cNvPr>
          <p:cNvSpPr/>
          <p:nvPr/>
        </p:nvSpPr>
        <p:spPr>
          <a:xfrm>
            <a:off x="9872035" y="3621684"/>
            <a:ext cx="2832623" cy="1514524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5D8961C-7DC6-0F4E-AE20-4E59E70DA821}"/>
              </a:ext>
            </a:extLst>
          </p:cNvPr>
          <p:cNvSpPr txBox="1"/>
          <p:nvPr/>
        </p:nvSpPr>
        <p:spPr>
          <a:xfrm>
            <a:off x="10025113" y="4369157"/>
            <a:ext cx="681597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$eval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7E96E20-8CB1-A141-B750-02CF1C6E4F7B}"/>
              </a:ext>
            </a:extLst>
          </p:cNvPr>
          <p:cNvSpPr txBox="1"/>
          <p:nvPr/>
        </p:nvSpPr>
        <p:spPr>
          <a:xfrm>
            <a:off x="10052282" y="4757265"/>
            <a:ext cx="582211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hyp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2297FBA3-2B29-1540-9DDE-D46F6AC321A5}"/>
              </a:ext>
            </a:extLst>
          </p:cNvPr>
          <p:cNvSpPr txBox="1"/>
          <p:nvPr/>
        </p:nvSpPr>
        <p:spPr>
          <a:xfrm>
            <a:off x="11742226" y="4392329"/>
            <a:ext cx="780983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logml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CB2699B5-7D4A-764B-82AE-A83B01ABB0AC}"/>
              </a:ext>
            </a:extLst>
          </p:cNvPr>
          <p:cNvSpPr txBox="1"/>
          <p:nvPr/>
        </p:nvSpPr>
        <p:spPr>
          <a:xfrm>
            <a:off x="10745336" y="4753122"/>
            <a:ext cx="1675459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error_measures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3" name="Rounded Rectangle 282">
            <a:extLst>
              <a:ext uri="{FF2B5EF4-FFF2-40B4-BE49-F238E27FC236}">
                <a16:creationId xmlns:a16="http://schemas.microsoft.com/office/drawing/2014/main" id="{162171C2-56DF-7546-9CD5-2C5E75FA2D96}"/>
              </a:ext>
            </a:extLst>
          </p:cNvPr>
          <p:cNvSpPr/>
          <p:nvPr/>
        </p:nvSpPr>
        <p:spPr>
          <a:xfrm>
            <a:off x="4167713" y="3621684"/>
            <a:ext cx="2881486" cy="1514524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CD3999A-8D6A-BB4A-AE4C-4DE261228E6F}"/>
              </a:ext>
            </a:extLst>
          </p:cNvPr>
          <p:cNvSpPr txBox="1"/>
          <p:nvPr/>
        </p:nvSpPr>
        <p:spPr>
          <a:xfrm>
            <a:off x="4779189" y="4763173"/>
            <a:ext cx="1576072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bf_ineq_table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0B9B1547-D89E-3C4E-AA82-61F21B5F7A7A}"/>
              </a:ext>
            </a:extLst>
          </p:cNvPr>
          <p:cNvSpPr txBox="1"/>
          <p:nvPr/>
        </p:nvSpPr>
        <p:spPr>
          <a:xfrm>
            <a:off x="4217125" y="4415590"/>
            <a:ext cx="1079142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bf_table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9" name="Rounded Rectangle 288">
            <a:extLst>
              <a:ext uri="{FF2B5EF4-FFF2-40B4-BE49-F238E27FC236}">
                <a16:creationId xmlns:a16="http://schemas.microsoft.com/office/drawing/2014/main" id="{225F7C80-BFA2-684D-A758-D53257681F57}"/>
              </a:ext>
            </a:extLst>
          </p:cNvPr>
          <p:cNvSpPr/>
          <p:nvPr/>
        </p:nvSpPr>
        <p:spPr>
          <a:xfrm>
            <a:off x="7396346" y="3594356"/>
            <a:ext cx="2288677" cy="1674644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7920231F-F203-004C-A606-5D94250796D9}"/>
              </a:ext>
            </a:extLst>
          </p:cNvPr>
          <p:cNvSpPr txBox="1"/>
          <p:nvPr/>
        </p:nvSpPr>
        <p:spPr>
          <a:xfrm>
            <a:off x="7717811" y="4843966"/>
            <a:ext cx="1576072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post_samples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89F61C17-1701-BB4D-BBD5-F97173A399E4}"/>
              </a:ext>
            </a:extLst>
          </p:cNvPr>
          <p:cNvSpPr txBox="1"/>
          <p:nvPr/>
        </p:nvSpPr>
        <p:spPr>
          <a:xfrm>
            <a:off x="7726566" y="4514587"/>
            <a:ext cx="1576072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prior_samples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826EE440-A387-D14B-B0B7-CBA2C0397A82}"/>
              </a:ext>
            </a:extLst>
          </p:cNvPr>
          <p:cNvCxnSpPr>
            <a:cxnSpLocks/>
            <a:stCxn id="228" idx="2"/>
            <a:endCxn id="283" idx="0"/>
          </p:cNvCxnSpPr>
          <p:nvPr/>
        </p:nvCxnSpPr>
        <p:spPr>
          <a:xfrm>
            <a:off x="5607298" y="3401696"/>
            <a:ext cx="1158" cy="219988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769E612E-4C1B-DA45-8A60-1CE57624F37E}"/>
              </a:ext>
            </a:extLst>
          </p:cNvPr>
          <p:cNvCxnSpPr>
            <a:cxnSpLocks/>
            <a:stCxn id="229" idx="2"/>
            <a:endCxn id="289" idx="0"/>
          </p:cNvCxnSpPr>
          <p:nvPr/>
        </p:nvCxnSpPr>
        <p:spPr>
          <a:xfrm flipH="1">
            <a:off x="8540685" y="3401696"/>
            <a:ext cx="4603" cy="192660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1597EB0-75FE-E841-8D38-34F309CC7906}"/>
              </a:ext>
            </a:extLst>
          </p:cNvPr>
          <p:cNvCxnSpPr>
            <a:cxnSpLocks/>
            <a:stCxn id="136" idx="3"/>
            <a:endCxn id="82" idx="1"/>
          </p:cNvCxnSpPr>
          <p:nvPr/>
        </p:nvCxnSpPr>
        <p:spPr>
          <a:xfrm>
            <a:off x="3097774" y="6260968"/>
            <a:ext cx="887729" cy="3368"/>
          </a:xfrm>
          <a:prstGeom prst="straightConnector1">
            <a:avLst/>
          </a:prstGeom>
          <a:ln w="19050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FB2D1BB5-0925-F54A-8295-D562157B84E3}"/>
              </a:ext>
            </a:extLst>
          </p:cNvPr>
          <p:cNvSpPr/>
          <p:nvPr/>
        </p:nvSpPr>
        <p:spPr>
          <a:xfrm>
            <a:off x="3985503" y="5275549"/>
            <a:ext cx="3654119" cy="1977574"/>
          </a:xfrm>
          <a:prstGeom prst="roundRect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sp>
        <p:nvSpPr>
          <p:cNvPr id="136" name="Diamond 135">
            <a:extLst>
              <a:ext uri="{FF2B5EF4-FFF2-40B4-BE49-F238E27FC236}">
                <a16:creationId xmlns:a16="http://schemas.microsoft.com/office/drawing/2014/main" id="{FB4C1AD5-9740-DB46-8F0F-6D11948B6F7D}"/>
              </a:ext>
            </a:extLst>
          </p:cNvPr>
          <p:cNvSpPr/>
          <p:nvPr/>
        </p:nvSpPr>
        <p:spPr>
          <a:xfrm>
            <a:off x="897808" y="5808055"/>
            <a:ext cx="2199966" cy="905825"/>
          </a:xfrm>
          <a:prstGeom prst="diamond">
            <a:avLst/>
          </a:prstGeom>
          <a:noFill/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0AEAAFF-88F8-814C-B741-D09DEC405A29}"/>
              </a:ext>
            </a:extLst>
          </p:cNvPr>
          <p:cNvSpPr txBox="1"/>
          <p:nvPr/>
        </p:nvSpPr>
        <p:spPr>
          <a:xfrm>
            <a:off x="1100049" y="69092"/>
            <a:ext cx="2578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Basic Arguments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F728D7-121B-2C4A-AF5E-552905A49DF0}"/>
              </a:ext>
            </a:extLst>
          </p:cNvPr>
          <p:cNvSpPr txBox="1"/>
          <p:nvPr/>
        </p:nvSpPr>
        <p:spPr>
          <a:xfrm>
            <a:off x="1504970" y="4623066"/>
            <a:ext cx="681597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$data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DCF925A-283E-164C-A6A5-62F7A4DE47B2}"/>
              </a:ext>
            </a:extLst>
          </p:cNvPr>
          <p:cNvSpPr txBox="1"/>
          <p:nvPr/>
        </p:nvSpPr>
        <p:spPr>
          <a:xfrm>
            <a:off x="670968" y="4623066"/>
            <a:ext cx="780983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$prior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1C41C1-30DE-4648-9596-9A66FFEF687E}"/>
              </a:ext>
            </a:extLst>
          </p:cNvPr>
          <p:cNvSpPr txBox="1"/>
          <p:nvPr/>
        </p:nvSpPr>
        <p:spPr>
          <a:xfrm>
            <a:off x="686208" y="4976612"/>
            <a:ext cx="1277914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nr_inequal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2E5CA1-CF25-0943-B1A0-473C999D3B84}"/>
              </a:ext>
            </a:extLst>
          </p:cNvPr>
          <p:cNvSpPr txBox="1"/>
          <p:nvPr/>
        </p:nvSpPr>
        <p:spPr>
          <a:xfrm>
            <a:off x="2237100" y="4622566"/>
            <a:ext cx="1079142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nr_equal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ECCEC3-157B-844F-9AB5-A46E8A10DA4F}"/>
              </a:ext>
            </a:extLst>
          </p:cNvPr>
          <p:cNvSpPr txBox="1"/>
          <p:nvPr/>
        </p:nvSpPr>
        <p:spPr>
          <a:xfrm>
            <a:off x="5323986" y="4415590"/>
            <a:ext cx="1675459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error_measures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6C3FF9-D5EB-8341-8E3D-859421B4E4A0}"/>
              </a:ext>
            </a:extLst>
          </p:cNvPr>
          <p:cNvSpPr txBox="1"/>
          <p:nvPr/>
        </p:nvSpPr>
        <p:spPr>
          <a:xfrm>
            <a:off x="1778734" y="4279192"/>
            <a:ext cx="582211" cy="292388"/>
          </a:xfrm>
          <a:prstGeom prst="rect">
            <a:avLst/>
          </a:prstGeom>
          <a:noFill/>
          <a:ln w="19050">
            <a:solidFill>
              <a:srgbClr val="FF7E79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$re2</a:t>
            </a:r>
          </a:p>
        </p:txBody>
      </p:sp>
    </p:spTree>
    <p:extLst>
      <p:ext uri="{BB962C8B-B14F-4D97-AF65-F5344CB8AC3E}">
        <p14:creationId xmlns:p14="http://schemas.microsoft.com/office/powerpoint/2010/main" val="3368168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05EC9212-3D23-214E-A37C-091887891EBD}"/>
              </a:ext>
            </a:extLst>
          </p:cNvPr>
          <p:cNvSpPr txBox="1"/>
          <p:nvPr/>
        </p:nvSpPr>
        <p:spPr>
          <a:xfrm>
            <a:off x="612391" y="6573108"/>
            <a:ext cx="3114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Ordinal hypotheses and equality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C3F3F75-79FC-A2E7-99BB-1282FD91B432}"/>
                  </a:ext>
                </a:extLst>
              </p:cNvPr>
              <p:cNvSpPr/>
              <p:nvPr/>
            </p:nvSpPr>
            <p:spPr>
              <a:xfrm>
                <a:off x="1803355" y="196550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C3F3F75-79FC-A2E7-99BB-1282FD91B4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355" y="1965506"/>
                <a:ext cx="540000" cy="540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D3E8A9C-8340-0EB8-D482-707A1A170880}"/>
                  </a:ext>
                </a:extLst>
              </p:cNvPr>
              <p:cNvSpPr/>
              <p:nvPr/>
            </p:nvSpPr>
            <p:spPr>
              <a:xfrm>
                <a:off x="1803355" y="2748493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D3E8A9C-8340-0EB8-D482-707A1A1708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355" y="2748493"/>
                <a:ext cx="540000" cy="540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7116971-F4DE-C9FC-9E42-162201655086}"/>
                  </a:ext>
                </a:extLst>
              </p:cNvPr>
              <p:cNvSpPr/>
              <p:nvPr/>
            </p:nvSpPr>
            <p:spPr>
              <a:xfrm>
                <a:off x="1100103" y="470461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7116971-F4DE-C9FC-9E42-1622016550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103" y="4704611"/>
                <a:ext cx="540000" cy="540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DDB571F-2EB3-4048-84B8-07317759BE6D}"/>
                  </a:ext>
                </a:extLst>
              </p:cNvPr>
              <p:cNvSpPr/>
              <p:nvPr/>
            </p:nvSpPr>
            <p:spPr>
              <a:xfrm>
                <a:off x="1898432" y="469812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DDB571F-2EB3-4048-84B8-07317759BE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432" y="4698129"/>
                <a:ext cx="540000" cy="540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DF70E7B-6057-FF0A-4F9A-0F9FFB2DEF27}"/>
                  </a:ext>
                </a:extLst>
              </p:cNvPr>
              <p:cNvSpPr/>
              <p:nvPr/>
            </p:nvSpPr>
            <p:spPr>
              <a:xfrm>
                <a:off x="2690762" y="470461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DF70E7B-6057-FF0A-4F9A-0F9FFB2DE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0762" y="4704611"/>
                <a:ext cx="540000" cy="540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998B9D9-CC56-93FB-2A4C-7FD5D630A9A5}"/>
                  </a:ext>
                </a:extLst>
              </p:cNvPr>
              <p:cNvSpPr/>
              <p:nvPr/>
            </p:nvSpPr>
            <p:spPr>
              <a:xfrm>
                <a:off x="1803355" y="118251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998B9D9-CC56-93FB-2A4C-7FD5D630A9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355" y="1182519"/>
                <a:ext cx="540000" cy="540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96D016-9FB5-D14B-05F8-DB7A4A14191C}"/>
              </a:ext>
            </a:extLst>
          </p:cNvPr>
          <p:cNvCxnSpPr>
            <a:cxnSpLocks/>
            <a:stCxn id="17" idx="4"/>
            <a:endCxn id="9" idx="0"/>
          </p:cNvCxnSpPr>
          <p:nvPr/>
        </p:nvCxnSpPr>
        <p:spPr>
          <a:xfrm>
            <a:off x="2073355" y="1722519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AD9A55-8781-7ACC-AFD2-20638DE9A11A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2073355" y="2505506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F9E897E-E906-B30A-581A-4B3E674AE954}"/>
              </a:ext>
            </a:extLst>
          </p:cNvPr>
          <p:cNvSpPr/>
          <p:nvPr/>
        </p:nvSpPr>
        <p:spPr>
          <a:xfrm>
            <a:off x="4577638" y="770235"/>
            <a:ext cx="3121139" cy="2622385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7064ED8-E1F4-DC2B-1ED2-811E00C1B3B2}"/>
                  </a:ext>
                </a:extLst>
              </p:cNvPr>
              <p:cNvSpPr/>
              <p:nvPr/>
            </p:nvSpPr>
            <p:spPr>
              <a:xfrm>
                <a:off x="5897593" y="1968324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7064ED8-E1F4-DC2B-1ED2-811E00C1B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593" y="1968324"/>
                <a:ext cx="540000" cy="540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4717BC2-0ABE-3105-687C-D056CA4EFE5F}"/>
                  </a:ext>
                </a:extLst>
              </p:cNvPr>
              <p:cNvSpPr/>
              <p:nvPr/>
            </p:nvSpPr>
            <p:spPr>
              <a:xfrm>
                <a:off x="5513656" y="2790325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4717BC2-0ABE-3105-687C-D056CA4EFE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656" y="2790325"/>
                <a:ext cx="540000" cy="540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57FAE98-B561-D6E0-AEA3-B487CAEA149F}"/>
              </a:ext>
            </a:extLst>
          </p:cNvPr>
          <p:cNvCxnSpPr>
            <a:cxnSpLocks/>
            <a:stCxn id="120" idx="4"/>
            <a:endCxn id="40" idx="0"/>
          </p:cNvCxnSpPr>
          <p:nvPr/>
        </p:nvCxnSpPr>
        <p:spPr>
          <a:xfrm>
            <a:off x="6162207" y="1711360"/>
            <a:ext cx="5386" cy="256964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943654A-A8E9-070E-95B0-71D3CF3B45C6}"/>
              </a:ext>
            </a:extLst>
          </p:cNvPr>
          <p:cNvCxnSpPr>
            <a:cxnSpLocks/>
            <a:stCxn id="40" idx="4"/>
            <a:endCxn id="130" idx="0"/>
          </p:cNvCxnSpPr>
          <p:nvPr/>
        </p:nvCxnSpPr>
        <p:spPr>
          <a:xfrm>
            <a:off x="6167593" y="2508324"/>
            <a:ext cx="1026" cy="367335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1B86FE72-08D2-2604-72B5-570E05D9B5D8}"/>
                  </a:ext>
                </a:extLst>
              </p:cNvPr>
              <p:cNvSpPr/>
              <p:nvPr/>
            </p:nvSpPr>
            <p:spPr>
              <a:xfrm>
                <a:off x="9026405" y="200589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1B86FE72-08D2-2604-72B5-570E05D9B5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405" y="2005891"/>
                <a:ext cx="540000" cy="540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E8B61BD-94F3-57E2-85D7-5782898047EC}"/>
                  </a:ext>
                </a:extLst>
              </p:cNvPr>
              <p:cNvSpPr/>
              <p:nvPr/>
            </p:nvSpPr>
            <p:spPr>
              <a:xfrm>
                <a:off x="9026405" y="2788878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E8B61BD-94F3-57E2-85D7-578289804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405" y="2788878"/>
                <a:ext cx="540000" cy="540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C06B885-1BCC-1383-B4FB-80CD8F01EB55}"/>
                  </a:ext>
                </a:extLst>
              </p:cNvPr>
              <p:cNvSpPr/>
              <p:nvPr/>
            </p:nvSpPr>
            <p:spPr>
              <a:xfrm>
                <a:off x="9995427" y="155452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C06B885-1BCC-1383-B4FB-80CD8F01EB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427" y="1554522"/>
                <a:ext cx="540000" cy="5400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C49B384C-315E-6A38-FCC5-5620A7EA52C2}"/>
                  </a:ext>
                </a:extLst>
              </p:cNvPr>
              <p:cNvSpPr/>
              <p:nvPr/>
            </p:nvSpPr>
            <p:spPr>
              <a:xfrm>
                <a:off x="10910785" y="156520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C49B384C-315E-6A38-FCC5-5620A7EA52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0785" y="1565202"/>
                <a:ext cx="540000" cy="5400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26DC02B1-6443-5D6A-79E1-F396D3086B8E}"/>
                  </a:ext>
                </a:extLst>
              </p:cNvPr>
              <p:cNvSpPr/>
              <p:nvPr/>
            </p:nvSpPr>
            <p:spPr>
              <a:xfrm>
                <a:off x="10421856" y="232117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26DC02B1-6443-5D6A-79E1-F396D3086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1856" y="2321176"/>
                <a:ext cx="540000" cy="5400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DF5936FC-CE77-7330-658A-CAB68A1A17DE}"/>
                  </a:ext>
                </a:extLst>
              </p:cNvPr>
              <p:cNvSpPr/>
              <p:nvPr/>
            </p:nvSpPr>
            <p:spPr>
              <a:xfrm>
                <a:off x="9026405" y="1222904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DF5936FC-CE77-7330-658A-CAB68A1A17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405" y="1222904"/>
                <a:ext cx="540000" cy="5400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FA2460D-3A62-AAB2-C82B-1EF481F0B7C6}"/>
              </a:ext>
            </a:extLst>
          </p:cNvPr>
          <p:cNvCxnSpPr>
            <a:cxnSpLocks/>
            <a:stCxn id="70" idx="4"/>
            <a:endCxn id="54" idx="0"/>
          </p:cNvCxnSpPr>
          <p:nvPr/>
        </p:nvCxnSpPr>
        <p:spPr>
          <a:xfrm>
            <a:off x="9296405" y="1762904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5647BAF-5092-D0FE-A0C3-E1D047E82332}"/>
              </a:ext>
            </a:extLst>
          </p:cNvPr>
          <p:cNvCxnSpPr>
            <a:cxnSpLocks/>
            <a:stCxn id="54" idx="4"/>
            <a:endCxn id="55" idx="0"/>
          </p:cNvCxnSpPr>
          <p:nvPr/>
        </p:nvCxnSpPr>
        <p:spPr>
          <a:xfrm>
            <a:off x="9296405" y="2545891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EB24CE7F-B4DA-83C6-0D6F-7B71054A3491}"/>
              </a:ext>
            </a:extLst>
          </p:cNvPr>
          <p:cNvSpPr txBox="1"/>
          <p:nvPr/>
        </p:nvSpPr>
        <p:spPr>
          <a:xfrm>
            <a:off x="4457533" y="6573107"/>
            <a:ext cx="3671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Combinations of ordinal constraints, equality constraints, and free parameters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7D8F87B-DC72-6DE2-23C8-19CF94EB0870}"/>
              </a:ext>
            </a:extLst>
          </p:cNvPr>
          <p:cNvSpPr txBox="1"/>
          <p:nvPr/>
        </p:nvSpPr>
        <p:spPr>
          <a:xfrm>
            <a:off x="8820564" y="6573106"/>
            <a:ext cx="3114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Combinations of independent constraints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C94779A-ABAB-3BFC-F53F-31D9A424A14F}"/>
              </a:ext>
            </a:extLst>
          </p:cNvPr>
          <p:cNvSpPr txBox="1"/>
          <p:nvPr/>
        </p:nvSpPr>
        <p:spPr>
          <a:xfrm>
            <a:off x="1614169" y="4783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297BA6E-E5EB-4241-63BA-07F920B8A0D1}"/>
              </a:ext>
            </a:extLst>
          </p:cNvPr>
          <p:cNvSpPr txBox="1"/>
          <p:nvPr/>
        </p:nvSpPr>
        <p:spPr>
          <a:xfrm>
            <a:off x="2418111" y="47834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E32CB2EC-35EA-8B2D-C28A-CEE5BA9F94F6}"/>
                  </a:ext>
                </a:extLst>
              </p:cNvPr>
              <p:cNvSpPr/>
              <p:nvPr/>
            </p:nvSpPr>
            <p:spPr>
              <a:xfrm>
                <a:off x="5093878" y="117784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E32CB2EC-35EA-8B2D-C28A-CEE5BA9F94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878" y="1177842"/>
                <a:ext cx="540000" cy="54000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A36AC848-CE69-92C9-8002-94218A3FDB6F}"/>
                  </a:ext>
                </a:extLst>
              </p:cNvPr>
              <p:cNvSpPr/>
              <p:nvPr/>
            </p:nvSpPr>
            <p:spPr>
              <a:xfrm>
                <a:off x="5892207" y="1171360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A36AC848-CE69-92C9-8002-94218A3FDB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207" y="1171360"/>
                <a:ext cx="540000" cy="54000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81CBAF93-8847-036B-CD63-52E642FCEE8F}"/>
                  </a:ext>
                </a:extLst>
              </p:cNvPr>
              <p:cNvSpPr/>
              <p:nvPr/>
            </p:nvSpPr>
            <p:spPr>
              <a:xfrm>
                <a:off x="6684537" y="117784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81CBAF93-8847-036B-CD63-52E642FCEE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537" y="1177842"/>
                <a:ext cx="540000" cy="54000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TextBox 122">
            <a:extLst>
              <a:ext uri="{FF2B5EF4-FFF2-40B4-BE49-F238E27FC236}">
                <a16:creationId xmlns:a16="http://schemas.microsoft.com/office/drawing/2014/main" id="{F550BEF1-2658-7890-060E-77E9D36A2023}"/>
              </a:ext>
            </a:extLst>
          </p:cNvPr>
          <p:cNvSpPr txBox="1"/>
          <p:nvPr/>
        </p:nvSpPr>
        <p:spPr>
          <a:xfrm>
            <a:off x="5607944" y="12566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2FDC850-A532-E6E2-3EA4-C4A9AD076AF7}"/>
              </a:ext>
            </a:extLst>
          </p:cNvPr>
          <p:cNvSpPr txBox="1"/>
          <p:nvPr/>
        </p:nvSpPr>
        <p:spPr>
          <a:xfrm>
            <a:off x="6411886" y="12566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379FD9CE-EEE5-523D-E45F-2FB7CE62D985}"/>
                  </a:ext>
                </a:extLst>
              </p:cNvPr>
              <p:cNvSpPr/>
              <p:nvPr/>
            </p:nvSpPr>
            <p:spPr>
              <a:xfrm>
                <a:off x="6350385" y="277597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379FD9CE-EEE5-523D-E45F-2FB7CE62D9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385" y="2775971"/>
                <a:ext cx="540000" cy="54000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TextBox 129">
            <a:extLst>
              <a:ext uri="{FF2B5EF4-FFF2-40B4-BE49-F238E27FC236}">
                <a16:creationId xmlns:a16="http://schemas.microsoft.com/office/drawing/2014/main" id="{DC0C3D47-4AFC-B377-61EA-61EE08F5BE1A}"/>
              </a:ext>
            </a:extLst>
          </p:cNvPr>
          <p:cNvSpPr txBox="1"/>
          <p:nvPr/>
        </p:nvSpPr>
        <p:spPr>
          <a:xfrm>
            <a:off x="6018578" y="28756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937922FD-2BFA-2CAF-39FC-05AE4E52538C}"/>
              </a:ext>
            </a:extLst>
          </p:cNvPr>
          <p:cNvSpPr/>
          <p:nvPr/>
        </p:nvSpPr>
        <p:spPr>
          <a:xfrm>
            <a:off x="4619090" y="3818140"/>
            <a:ext cx="3121137" cy="2594327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79ECC8F3-CA9D-AD1C-EE02-317604FB08B8}"/>
                  </a:ext>
                </a:extLst>
              </p:cNvPr>
              <p:cNvSpPr/>
              <p:nvPr/>
            </p:nvSpPr>
            <p:spPr>
              <a:xfrm>
                <a:off x="5470435" y="580581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79ECC8F3-CA9D-AD1C-EE02-317604FB08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435" y="5805816"/>
                <a:ext cx="540000" cy="540000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22480922-A623-3818-FD17-EC320022C895}"/>
                  </a:ext>
                </a:extLst>
              </p:cNvPr>
              <p:cNvSpPr/>
              <p:nvPr/>
            </p:nvSpPr>
            <p:spPr>
              <a:xfrm>
                <a:off x="5880526" y="423279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22480922-A623-3818-FD17-EC320022C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526" y="4232791"/>
                <a:ext cx="540000" cy="540000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E111CF2A-029C-B0EE-1D72-F2AE6F1B9DC3}"/>
                  </a:ext>
                </a:extLst>
              </p:cNvPr>
              <p:cNvSpPr/>
              <p:nvPr/>
            </p:nvSpPr>
            <p:spPr>
              <a:xfrm>
                <a:off x="6333888" y="580581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E111CF2A-029C-B0EE-1D72-F2AE6F1B9D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888" y="5805816"/>
                <a:ext cx="540000" cy="540000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C3489273-5864-4B01-93A4-7BAA41D8B71C}"/>
              </a:ext>
            </a:extLst>
          </p:cNvPr>
          <p:cNvSpPr txBox="1"/>
          <p:nvPr/>
        </p:nvSpPr>
        <p:spPr>
          <a:xfrm>
            <a:off x="6000485" y="59025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8DA94D2-24A4-3DE3-B799-623239285989}"/>
              </a:ext>
            </a:extLst>
          </p:cNvPr>
          <p:cNvCxnSpPr>
            <a:cxnSpLocks/>
            <a:stCxn id="154" idx="4"/>
            <a:endCxn id="147" idx="0"/>
          </p:cNvCxnSpPr>
          <p:nvPr/>
        </p:nvCxnSpPr>
        <p:spPr>
          <a:xfrm>
            <a:off x="6150526" y="5595823"/>
            <a:ext cx="0" cy="306679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1979355F-D6C5-83B3-4571-42592D297100}"/>
                  </a:ext>
                </a:extLst>
              </p:cNvPr>
              <p:cNvSpPr/>
              <p:nvPr/>
            </p:nvSpPr>
            <p:spPr>
              <a:xfrm>
                <a:off x="5165738" y="504649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1979355F-D6C5-83B3-4571-42592D2971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738" y="5046496"/>
                <a:ext cx="540000" cy="540000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5CE5B9B8-1F97-55EF-01ED-3DF4B1458807}"/>
                  </a:ext>
                </a:extLst>
              </p:cNvPr>
              <p:cNvSpPr/>
              <p:nvPr/>
            </p:nvSpPr>
            <p:spPr>
              <a:xfrm>
                <a:off x="5880526" y="5055823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5CE5B9B8-1F97-55EF-01ED-3DF4B1458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526" y="5055823"/>
                <a:ext cx="540000" cy="540000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496E609E-4380-28F2-B9A0-D8099265BA65}"/>
                  </a:ext>
                </a:extLst>
              </p:cNvPr>
              <p:cNvSpPr/>
              <p:nvPr/>
            </p:nvSpPr>
            <p:spPr>
              <a:xfrm>
                <a:off x="6498068" y="5052978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496E609E-4380-28F2-B9A0-D8099265BA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068" y="5052978"/>
                <a:ext cx="540000" cy="540000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8867450-E122-58AF-1D10-30FB99814DC2}"/>
              </a:ext>
            </a:extLst>
          </p:cNvPr>
          <p:cNvCxnSpPr>
            <a:cxnSpLocks/>
            <a:stCxn id="141" idx="4"/>
            <a:endCxn id="153" idx="0"/>
          </p:cNvCxnSpPr>
          <p:nvPr/>
        </p:nvCxnSpPr>
        <p:spPr>
          <a:xfrm flipH="1">
            <a:off x="5435738" y="4772791"/>
            <a:ext cx="714788" cy="273705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7AD2598E-F5BC-AC6E-584A-31BA4164D291}"/>
              </a:ext>
            </a:extLst>
          </p:cNvPr>
          <p:cNvCxnSpPr>
            <a:cxnSpLocks/>
            <a:stCxn id="141" idx="4"/>
            <a:endCxn id="154" idx="0"/>
          </p:cNvCxnSpPr>
          <p:nvPr/>
        </p:nvCxnSpPr>
        <p:spPr>
          <a:xfrm>
            <a:off x="6150526" y="4772791"/>
            <a:ext cx="0" cy="28303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F21CFF8D-6E83-8C44-060F-9C70C243B981}"/>
              </a:ext>
            </a:extLst>
          </p:cNvPr>
          <p:cNvCxnSpPr>
            <a:cxnSpLocks/>
            <a:stCxn id="141" idx="4"/>
            <a:endCxn id="155" idx="0"/>
          </p:cNvCxnSpPr>
          <p:nvPr/>
        </p:nvCxnSpPr>
        <p:spPr>
          <a:xfrm>
            <a:off x="6150526" y="4772791"/>
            <a:ext cx="617542" cy="2801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BCBC793E-8041-6AE6-F326-D8579E923429}"/>
              </a:ext>
            </a:extLst>
          </p:cNvPr>
          <p:cNvSpPr/>
          <p:nvPr/>
        </p:nvSpPr>
        <p:spPr>
          <a:xfrm>
            <a:off x="651595" y="770235"/>
            <a:ext cx="3121139" cy="2622385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68649A65-196A-F4DA-272B-6BB854FCDFFC}"/>
              </a:ext>
            </a:extLst>
          </p:cNvPr>
          <p:cNvSpPr/>
          <p:nvPr/>
        </p:nvSpPr>
        <p:spPr>
          <a:xfrm>
            <a:off x="651595" y="3834748"/>
            <a:ext cx="3121137" cy="2594327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19E2D20E-91DD-33CB-1BCF-C76F703B4702}"/>
              </a:ext>
            </a:extLst>
          </p:cNvPr>
          <p:cNvSpPr/>
          <p:nvPr/>
        </p:nvSpPr>
        <p:spPr>
          <a:xfrm>
            <a:off x="8662513" y="789226"/>
            <a:ext cx="3121139" cy="2622385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85C7C3C3-3544-77C7-B02F-919BC04D6E62}"/>
              </a:ext>
            </a:extLst>
          </p:cNvPr>
          <p:cNvCxnSpPr>
            <a:cxnSpLocks/>
            <a:stCxn id="58" idx="4"/>
            <a:endCxn id="68" idx="0"/>
          </p:cNvCxnSpPr>
          <p:nvPr/>
        </p:nvCxnSpPr>
        <p:spPr>
          <a:xfrm>
            <a:off x="10265427" y="2094522"/>
            <a:ext cx="426429" cy="226654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137C0F67-1A57-82BC-798F-EB6DE1C45E20}"/>
              </a:ext>
            </a:extLst>
          </p:cNvPr>
          <p:cNvCxnSpPr>
            <a:cxnSpLocks/>
            <a:stCxn id="59" idx="4"/>
            <a:endCxn id="68" idx="0"/>
          </p:cNvCxnSpPr>
          <p:nvPr/>
        </p:nvCxnSpPr>
        <p:spPr>
          <a:xfrm flipH="1">
            <a:off x="10691856" y="2105202"/>
            <a:ext cx="488929" cy="215974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DFE3BFBA-D1C1-E71A-06FC-08FB9339C4E2}"/>
              </a:ext>
            </a:extLst>
          </p:cNvPr>
          <p:cNvSpPr/>
          <p:nvPr/>
        </p:nvSpPr>
        <p:spPr>
          <a:xfrm>
            <a:off x="8719832" y="3834748"/>
            <a:ext cx="3121137" cy="2663423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AF1026EF-62A4-3777-E2FD-6B25D2A67C40}"/>
                  </a:ext>
                </a:extLst>
              </p:cNvPr>
              <p:cNvSpPr/>
              <p:nvPr/>
            </p:nvSpPr>
            <p:spPr>
              <a:xfrm>
                <a:off x="9119254" y="5041537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AF1026EF-62A4-3777-E2FD-6B25D2A67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254" y="5041537"/>
                <a:ext cx="540000" cy="540000"/>
              </a:xfrm>
              <a:prstGeom prst="ellipse">
                <a:avLst/>
              </a:prstGeom>
              <a:blipFill>
                <a:blip r:embed="rId26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58FCE3A7-35F8-58F5-85F8-8E9CC208163C}"/>
                  </a:ext>
                </a:extLst>
              </p:cNvPr>
              <p:cNvSpPr/>
              <p:nvPr/>
            </p:nvSpPr>
            <p:spPr>
              <a:xfrm>
                <a:off x="9119254" y="5824524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58FCE3A7-35F8-58F5-85F8-8E9CC20816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254" y="5824524"/>
                <a:ext cx="540000" cy="540000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429894C-FBF6-8F16-AB29-5D9F5471A0AE}"/>
                  </a:ext>
                </a:extLst>
              </p:cNvPr>
              <p:cNvSpPr/>
              <p:nvPr/>
            </p:nvSpPr>
            <p:spPr>
              <a:xfrm>
                <a:off x="9119254" y="4258550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429894C-FBF6-8F16-AB29-5D9F5471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254" y="4258550"/>
                <a:ext cx="540000" cy="540000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FDFC23E7-250A-E99A-B715-6F4F43CE82A2}"/>
              </a:ext>
            </a:extLst>
          </p:cNvPr>
          <p:cNvCxnSpPr>
            <a:cxnSpLocks/>
            <a:stCxn id="204" idx="4"/>
            <a:endCxn id="202" idx="0"/>
          </p:cNvCxnSpPr>
          <p:nvPr/>
        </p:nvCxnSpPr>
        <p:spPr>
          <a:xfrm>
            <a:off x="9389254" y="4798550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35C7F8D-3C5A-1A2F-7C29-7DD898841817}"/>
              </a:ext>
            </a:extLst>
          </p:cNvPr>
          <p:cNvCxnSpPr>
            <a:cxnSpLocks/>
            <a:stCxn id="202" idx="4"/>
            <a:endCxn id="203" idx="0"/>
          </p:cNvCxnSpPr>
          <p:nvPr/>
        </p:nvCxnSpPr>
        <p:spPr>
          <a:xfrm>
            <a:off x="9389254" y="5581537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09FE75C9-6C0F-C129-152F-46C2F84E4074}"/>
                  </a:ext>
                </a:extLst>
              </p:cNvPr>
              <p:cNvSpPr/>
              <p:nvPr/>
            </p:nvSpPr>
            <p:spPr>
              <a:xfrm>
                <a:off x="10058675" y="4612795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09FE75C9-6C0F-C129-152F-46C2F84E40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675" y="4612795"/>
                <a:ext cx="540000" cy="540000"/>
              </a:xfrm>
              <a:prstGeom prst="ellipse">
                <a:avLst/>
              </a:prstGeom>
              <a:blipFill>
                <a:blip r:embed="rId29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2B057D7B-F987-EC0F-7838-0CFB5B84813E}"/>
                  </a:ext>
                </a:extLst>
              </p:cNvPr>
              <p:cNvSpPr/>
              <p:nvPr/>
            </p:nvSpPr>
            <p:spPr>
              <a:xfrm>
                <a:off x="10922128" y="4612795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2B057D7B-F987-EC0F-7838-0CFB5B848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128" y="4612795"/>
                <a:ext cx="540000" cy="540000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TextBox 211">
            <a:extLst>
              <a:ext uri="{FF2B5EF4-FFF2-40B4-BE49-F238E27FC236}">
                <a16:creationId xmlns:a16="http://schemas.microsoft.com/office/drawing/2014/main" id="{18057011-A25F-669A-8472-DB12F2DE6C51}"/>
              </a:ext>
            </a:extLst>
          </p:cNvPr>
          <p:cNvSpPr txBox="1"/>
          <p:nvPr/>
        </p:nvSpPr>
        <p:spPr>
          <a:xfrm>
            <a:off x="10588725" y="47094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BE96BF8-53E3-85FA-CF81-23B515BC4ED7}"/>
                  </a:ext>
                </a:extLst>
              </p:cNvPr>
              <p:cNvSpPr txBox="1"/>
              <p:nvPr/>
            </p:nvSpPr>
            <p:spPr>
              <a:xfrm>
                <a:off x="1409735" y="803776"/>
                <a:ext cx="15426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4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BBE96BF8-53E3-85FA-CF81-23B515BC4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735" y="803776"/>
                <a:ext cx="1542602" cy="307777"/>
              </a:xfrm>
              <a:prstGeom prst="rect">
                <a:avLst/>
              </a:prstGeom>
              <a:blipFill>
                <a:blip r:embed="rId31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A513F574-9389-4B25-336C-572557F1AFF4}"/>
                  </a:ext>
                </a:extLst>
              </p:cNvPr>
              <p:cNvSpPr txBox="1"/>
              <p:nvPr/>
            </p:nvSpPr>
            <p:spPr>
              <a:xfrm>
                <a:off x="1346022" y="3932620"/>
                <a:ext cx="16099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A513F574-9389-4B25-336C-572557F1A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022" y="3932620"/>
                <a:ext cx="1609928" cy="307777"/>
              </a:xfrm>
              <a:prstGeom prst="rect">
                <a:avLst/>
              </a:prstGeom>
              <a:blipFill>
                <a:blip r:embed="rId3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FC383117-30A2-23BF-012E-B9BD6221FF49}"/>
                  </a:ext>
                </a:extLst>
              </p:cNvPr>
              <p:cNvSpPr txBox="1"/>
              <p:nvPr/>
            </p:nvSpPr>
            <p:spPr>
              <a:xfrm>
                <a:off x="4775217" y="803776"/>
                <a:ext cx="285488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FC383117-30A2-23BF-012E-B9BD6221F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217" y="803776"/>
                <a:ext cx="2854884" cy="307777"/>
              </a:xfrm>
              <a:prstGeom prst="rect">
                <a:avLst/>
              </a:prstGeom>
              <a:blipFill>
                <a:blip r:embed="rId3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5E0D0D41-C65D-110A-679D-5303DA7FB2FA}"/>
                  </a:ext>
                </a:extLst>
              </p:cNvPr>
              <p:cNvSpPr txBox="1"/>
              <p:nvPr/>
            </p:nvSpPr>
            <p:spPr>
              <a:xfrm>
                <a:off x="4919826" y="3854759"/>
                <a:ext cx="25196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5E0D0D41-C65D-110A-679D-5303DA7FB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826" y="3854759"/>
                <a:ext cx="2519664" cy="307777"/>
              </a:xfrm>
              <a:prstGeom prst="rect">
                <a:avLst/>
              </a:prstGeom>
              <a:blipFill>
                <a:blip r:embed="rId3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569E25C8-383F-8E36-A05C-959DC5531D8E}"/>
                  </a:ext>
                </a:extLst>
              </p:cNvPr>
              <p:cNvSpPr txBox="1"/>
              <p:nvPr/>
            </p:nvSpPr>
            <p:spPr>
              <a:xfrm>
                <a:off x="8862537" y="807140"/>
                <a:ext cx="265643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&amp;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569E25C8-383F-8E36-A05C-959DC5531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537" y="807140"/>
                <a:ext cx="2656432" cy="307777"/>
              </a:xfrm>
              <a:prstGeom prst="rect">
                <a:avLst/>
              </a:prstGeom>
              <a:blipFill>
                <a:blip r:embed="rId3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12D928F-A4E3-48B7-5A27-D724DC40DBD1}"/>
                  </a:ext>
                </a:extLst>
              </p:cNvPr>
              <p:cNvSpPr txBox="1"/>
              <p:nvPr/>
            </p:nvSpPr>
            <p:spPr>
              <a:xfrm>
                <a:off x="9054384" y="3836875"/>
                <a:ext cx="24090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&amp; 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12D928F-A4E3-48B7-5A27-D724DC40D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384" y="3836875"/>
                <a:ext cx="2409057" cy="307777"/>
              </a:xfrm>
              <a:prstGeom prst="rect">
                <a:avLst/>
              </a:prstGeom>
              <a:blipFill>
                <a:blip r:embed="rId36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TextBox 222">
            <a:extLst>
              <a:ext uri="{FF2B5EF4-FFF2-40B4-BE49-F238E27FC236}">
                <a16:creationId xmlns:a16="http://schemas.microsoft.com/office/drawing/2014/main" id="{C1122555-7F13-91FC-F4E9-E5DD6C98F538}"/>
              </a:ext>
            </a:extLst>
          </p:cNvPr>
          <p:cNvSpPr txBox="1"/>
          <p:nvPr/>
        </p:nvSpPr>
        <p:spPr>
          <a:xfrm>
            <a:off x="4388817" y="208101"/>
            <a:ext cx="3114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Stick Hypotheses</a:t>
            </a:r>
          </a:p>
        </p:txBody>
      </p:sp>
    </p:spTree>
    <p:extLst>
      <p:ext uri="{BB962C8B-B14F-4D97-AF65-F5344CB8AC3E}">
        <p14:creationId xmlns:p14="http://schemas.microsoft.com/office/powerpoint/2010/main" val="2258394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5EC9212-3D23-214E-A37C-091887891EBD}"/>
                  </a:ext>
                </a:extLst>
              </p:cNvPr>
              <p:cNvSpPr txBox="1"/>
              <p:nvPr/>
            </p:nvSpPr>
            <p:spPr>
              <a:xfrm>
                <a:off x="848712" y="4774254"/>
                <a:ext cx="31145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do not share common upper bounds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5EC9212-3D23-214E-A37C-091887891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12" y="4774254"/>
                <a:ext cx="3114541" cy="584775"/>
              </a:xfrm>
              <a:prstGeom prst="rect">
                <a:avLst/>
              </a:prstGeom>
              <a:blipFill>
                <a:blip r:embed="rId2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937922FD-2BFA-2CAF-39FC-05AE4E52538C}"/>
              </a:ext>
            </a:extLst>
          </p:cNvPr>
          <p:cNvSpPr/>
          <p:nvPr/>
        </p:nvSpPr>
        <p:spPr>
          <a:xfrm>
            <a:off x="1123672" y="1016206"/>
            <a:ext cx="3121137" cy="3496801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22480922-A623-3818-FD17-EC320022C895}"/>
                  </a:ext>
                </a:extLst>
              </p:cNvPr>
              <p:cNvSpPr/>
              <p:nvPr/>
            </p:nvSpPr>
            <p:spPr>
              <a:xfrm>
                <a:off x="2375019" y="1076007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22480922-A623-3818-FD17-EC320022C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019" y="1076007"/>
                <a:ext cx="540000" cy="540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8DA94D2-24A4-3DE3-B799-623239285989}"/>
              </a:ext>
            </a:extLst>
          </p:cNvPr>
          <p:cNvCxnSpPr>
            <a:cxnSpLocks/>
            <a:stCxn id="154" idx="4"/>
            <a:endCxn id="2" idx="0"/>
          </p:cNvCxnSpPr>
          <p:nvPr/>
        </p:nvCxnSpPr>
        <p:spPr>
          <a:xfrm flipH="1">
            <a:off x="1964647" y="2439039"/>
            <a:ext cx="680372" cy="487979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1979355F-D6C5-83B3-4571-42592D297100}"/>
                  </a:ext>
                </a:extLst>
              </p:cNvPr>
              <p:cNvSpPr/>
              <p:nvPr/>
            </p:nvSpPr>
            <p:spPr>
              <a:xfrm>
                <a:off x="1660231" y="188971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1979355F-D6C5-83B3-4571-42592D2971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231" y="1889712"/>
                <a:ext cx="540000" cy="540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5CE5B9B8-1F97-55EF-01ED-3DF4B1458807}"/>
                  </a:ext>
                </a:extLst>
              </p:cNvPr>
              <p:cNvSpPr/>
              <p:nvPr/>
            </p:nvSpPr>
            <p:spPr>
              <a:xfrm>
                <a:off x="2375019" y="189903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5CE5B9B8-1F97-55EF-01ED-3DF4B1458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019" y="1899039"/>
                <a:ext cx="540000" cy="540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496E609E-4380-28F2-B9A0-D8099265BA65}"/>
                  </a:ext>
                </a:extLst>
              </p:cNvPr>
              <p:cNvSpPr/>
              <p:nvPr/>
            </p:nvSpPr>
            <p:spPr>
              <a:xfrm>
                <a:off x="2992561" y="1896194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496E609E-4380-28F2-B9A0-D8099265BA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561" y="1896194"/>
                <a:ext cx="540000" cy="540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8867450-E122-58AF-1D10-30FB99814DC2}"/>
              </a:ext>
            </a:extLst>
          </p:cNvPr>
          <p:cNvCxnSpPr>
            <a:cxnSpLocks/>
            <a:stCxn id="141" idx="4"/>
            <a:endCxn id="153" idx="0"/>
          </p:cNvCxnSpPr>
          <p:nvPr/>
        </p:nvCxnSpPr>
        <p:spPr>
          <a:xfrm flipH="1">
            <a:off x="1930231" y="1616007"/>
            <a:ext cx="714788" cy="273705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7AD2598E-F5BC-AC6E-584A-31BA4164D291}"/>
              </a:ext>
            </a:extLst>
          </p:cNvPr>
          <p:cNvCxnSpPr>
            <a:cxnSpLocks/>
            <a:stCxn id="141" idx="4"/>
            <a:endCxn id="154" idx="0"/>
          </p:cNvCxnSpPr>
          <p:nvPr/>
        </p:nvCxnSpPr>
        <p:spPr>
          <a:xfrm>
            <a:off x="2645019" y="1616007"/>
            <a:ext cx="0" cy="28303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F21CFF8D-6E83-8C44-060F-9C70C243B981}"/>
              </a:ext>
            </a:extLst>
          </p:cNvPr>
          <p:cNvCxnSpPr>
            <a:cxnSpLocks/>
            <a:stCxn id="141" idx="4"/>
            <a:endCxn id="155" idx="0"/>
          </p:cNvCxnSpPr>
          <p:nvPr/>
        </p:nvCxnSpPr>
        <p:spPr>
          <a:xfrm>
            <a:off x="2645019" y="1616007"/>
            <a:ext cx="617542" cy="2801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DFE3BFBA-D1C1-E71A-06FC-08FB9339C4E2}"/>
              </a:ext>
            </a:extLst>
          </p:cNvPr>
          <p:cNvSpPr/>
          <p:nvPr/>
        </p:nvSpPr>
        <p:spPr>
          <a:xfrm>
            <a:off x="4907415" y="1016206"/>
            <a:ext cx="3121137" cy="3485778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AF1026EF-62A4-3777-E2FD-6B25D2A67C40}"/>
                  </a:ext>
                </a:extLst>
              </p:cNvPr>
              <p:cNvSpPr/>
              <p:nvPr/>
            </p:nvSpPr>
            <p:spPr>
              <a:xfrm>
                <a:off x="5488519" y="193804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AF1026EF-62A4-3777-E2FD-6B25D2A67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519" y="1938041"/>
                <a:ext cx="540000" cy="540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58FCE3A7-35F8-58F5-85F8-8E9CC208163C}"/>
                  </a:ext>
                </a:extLst>
              </p:cNvPr>
              <p:cNvSpPr/>
              <p:nvPr/>
            </p:nvSpPr>
            <p:spPr>
              <a:xfrm>
                <a:off x="5488519" y="2721028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58FCE3A7-35F8-58F5-85F8-8E9CC20816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519" y="2721028"/>
                <a:ext cx="540000" cy="540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429894C-FBF6-8F16-AB29-5D9F5471A0AE}"/>
                  </a:ext>
                </a:extLst>
              </p:cNvPr>
              <p:cNvSpPr/>
              <p:nvPr/>
            </p:nvSpPr>
            <p:spPr>
              <a:xfrm>
                <a:off x="6071936" y="121285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429894C-FBF6-8F16-AB29-5D9F5471A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936" y="1212859"/>
                <a:ext cx="540000" cy="540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FDFC23E7-250A-E99A-B715-6F4F43CE82A2}"/>
              </a:ext>
            </a:extLst>
          </p:cNvPr>
          <p:cNvCxnSpPr>
            <a:cxnSpLocks/>
            <a:stCxn id="204" idx="4"/>
            <a:endCxn id="202" idx="0"/>
          </p:cNvCxnSpPr>
          <p:nvPr/>
        </p:nvCxnSpPr>
        <p:spPr>
          <a:xfrm flipH="1">
            <a:off x="5758519" y="1752859"/>
            <a:ext cx="583417" cy="18518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35C7F8D-3C5A-1A2F-7C29-7DD898841817}"/>
              </a:ext>
            </a:extLst>
          </p:cNvPr>
          <p:cNvCxnSpPr>
            <a:cxnSpLocks/>
            <a:stCxn id="202" idx="4"/>
            <a:endCxn id="203" idx="0"/>
          </p:cNvCxnSpPr>
          <p:nvPr/>
        </p:nvCxnSpPr>
        <p:spPr>
          <a:xfrm>
            <a:off x="5758519" y="2478041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6BD57950-A5C6-1C24-80C3-F8FECC67CCAD}"/>
                  </a:ext>
                </a:extLst>
              </p:cNvPr>
              <p:cNvSpPr/>
              <p:nvPr/>
            </p:nvSpPr>
            <p:spPr>
              <a:xfrm>
                <a:off x="1694647" y="2927018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6BD57950-A5C6-1C24-80C3-F8FECC67CC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647" y="2927018"/>
                <a:ext cx="540000" cy="540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352BEC41-6590-CA3F-FC0F-676C0A24A102}"/>
                  </a:ext>
                </a:extLst>
              </p:cNvPr>
              <p:cNvSpPr/>
              <p:nvPr/>
            </p:nvSpPr>
            <p:spPr>
              <a:xfrm>
                <a:off x="2409435" y="2936345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352BEC41-6590-CA3F-FC0F-676C0A24A1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435" y="2936345"/>
                <a:ext cx="540000" cy="540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7996943-B6CD-C6BA-206B-6EFC3E595882}"/>
                  </a:ext>
                </a:extLst>
              </p:cNvPr>
              <p:cNvSpPr/>
              <p:nvPr/>
            </p:nvSpPr>
            <p:spPr>
              <a:xfrm>
                <a:off x="3026977" y="2933500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7996943-B6CD-C6BA-206B-6EFC3E595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977" y="2933500"/>
                <a:ext cx="540000" cy="5400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7D9EB53-BD64-2062-AEB6-C74092CB3703}"/>
                  </a:ext>
                </a:extLst>
              </p:cNvPr>
              <p:cNvSpPr/>
              <p:nvPr/>
            </p:nvSpPr>
            <p:spPr>
              <a:xfrm>
                <a:off x="2405983" y="378586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7D9EB53-BD64-2062-AEB6-C74092CB37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983" y="3785869"/>
                <a:ext cx="540000" cy="5400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A57451-B1E0-5C58-19BF-2FDF6DC0EB1A}"/>
              </a:ext>
            </a:extLst>
          </p:cNvPr>
          <p:cNvCxnSpPr>
            <a:cxnSpLocks/>
            <a:stCxn id="153" idx="4"/>
            <a:endCxn id="2" idx="0"/>
          </p:cNvCxnSpPr>
          <p:nvPr/>
        </p:nvCxnSpPr>
        <p:spPr>
          <a:xfrm>
            <a:off x="1930231" y="2429712"/>
            <a:ext cx="34416" cy="497306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2935D8-F8E1-048D-41B7-4E6E0A38BFDE}"/>
              </a:ext>
            </a:extLst>
          </p:cNvPr>
          <p:cNvCxnSpPr>
            <a:cxnSpLocks/>
            <a:stCxn id="153" idx="4"/>
            <a:endCxn id="3" idx="0"/>
          </p:cNvCxnSpPr>
          <p:nvPr/>
        </p:nvCxnSpPr>
        <p:spPr>
          <a:xfrm>
            <a:off x="1930231" y="2429712"/>
            <a:ext cx="749204" cy="506633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0FFFA3-9B7A-978C-26C7-21008811E3A8}"/>
              </a:ext>
            </a:extLst>
          </p:cNvPr>
          <p:cNvCxnSpPr>
            <a:cxnSpLocks/>
            <a:stCxn id="154" idx="4"/>
            <a:endCxn id="4" idx="0"/>
          </p:cNvCxnSpPr>
          <p:nvPr/>
        </p:nvCxnSpPr>
        <p:spPr>
          <a:xfrm>
            <a:off x="2645019" y="2439039"/>
            <a:ext cx="651958" cy="494461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9D15A8-3303-3766-5B8D-5E32C599278B}"/>
              </a:ext>
            </a:extLst>
          </p:cNvPr>
          <p:cNvCxnSpPr>
            <a:cxnSpLocks/>
            <a:stCxn id="155" idx="4"/>
            <a:endCxn id="4" idx="0"/>
          </p:cNvCxnSpPr>
          <p:nvPr/>
        </p:nvCxnSpPr>
        <p:spPr>
          <a:xfrm>
            <a:off x="3262561" y="2436194"/>
            <a:ext cx="34416" cy="497306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95B2630-E43F-C1CD-D810-B762F0BD8B79}"/>
              </a:ext>
            </a:extLst>
          </p:cNvPr>
          <p:cNvCxnSpPr>
            <a:cxnSpLocks/>
            <a:stCxn id="155" idx="4"/>
            <a:endCxn id="3" idx="0"/>
          </p:cNvCxnSpPr>
          <p:nvPr/>
        </p:nvCxnSpPr>
        <p:spPr>
          <a:xfrm flipH="1">
            <a:off x="2679435" y="2436194"/>
            <a:ext cx="583126" cy="500151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4DA02A-7047-15E1-F515-C7011C480ECA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 flipH="1">
            <a:off x="2675983" y="3473500"/>
            <a:ext cx="620994" cy="312369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7836B0D-77FF-0FC4-B201-52B9943FDCAA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 flipH="1">
            <a:off x="2675983" y="3476345"/>
            <a:ext cx="3452" cy="309524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648D3B-5CEC-4C46-2656-34CA15B8006D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>
            <a:off x="1964647" y="3467018"/>
            <a:ext cx="711336" cy="318851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CB554B6-4E5E-1B9D-C5C9-C4FFDF4E76B7}"/>
                  </a:ext>
                </a:extLst>
              </p:cNvPr>
              <p:cNvSpPr/>
              <p:nvPr/>
            </p:nvSpPr>
            <p:spPr>
              <a:xfrm>
                <a:off x="5500395" y="350353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CB554B6-4E5E-1B9D-C5C9-C4FFDF4E76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95" y="3503536"/>
                <a:ext cx="540000" cy="5400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86E17B9-45F4-C401-ED5D-AD0F57E1CAC0}"/>
              </a:ext>
            </a:extLst>
          </p:cNvPr>
          <p:cNvCxnSpPr>
            <a:cxnSpLocks/>
            <a:stCxn id="203" idx="4"/>
            <a:endCxn id="44" idx="0"/>
          </p:cNvCxnSpPr>
          <p:nvPr/>
        </p:nvCxnSpPr>
        <p:spPr>
          <a:xfrm>
            <a:off x="5758519" y="3261028"/>
            <a:ext cx="11876" cy="242508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6B54634-B00C-ADB9-0D72-702457A2C0AA}"/>
                  </a:ext>
                </a:extLst>
              </p:cNvPr>
              <p:cNvSpPr/>
              <p:nvPr/>
            </p:nvSpPr>
            <p:spPr>
              <a:xfrm>
                <a:off x="6711282" y="1938041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6B54634-B00C-ADB9-0D72-702457A2C0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282" y="1938041"/>
                <a:ext cx="540000" cy="5400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CD8AC889-B5A0-C3F5-5556-2471D7CE5854}"/>
                  </a:ext>
                </a:extLst>
              </p:cNvPr>
              <p:cNvSpPr/>
              <p:nvPr/>
            </p:nvSpPr>
            <p:spPr>
              <a:xfrm>
                <a:off x="6711282" y="2721028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CD8AC889-B5A0-C3F5-5556-2471D7CE5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282" y="2721028"/>
                <a:ext cx="540000" cy="54000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73BD06A-CCDB-883F-D656-7026451C9F7D}"/>
              </a:ext>
            </a:extLst>
          </p:cNvPr>
          <p:cNvCxnSpPr>
            <a:cxnSpLocks/>
            <a:stCxn id="52" idx="4"/>
            <a:endCxn id="53" idx="0"/>
          </p:cNvCxnSpPr>
          <p:nvPr/>
        </p:nvCxnSpPr>
        <p:spPr>
          <a:xfrm>
            <a:off x="6981282" y="2478041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AFA745E4-537D-E358-CCBC-D04D18758829}"/>
                  </a:ext>
                </a:extLst>
              </p:cNvPr>
              <p:cNvSpPr/>
              <p:nvPr/>
            </p:nvSpPr>
            <p:spPr>
              <a:xfrm>
                <a:off x="6723158" y="3503536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AFA745E4-537D-E358-CCBC-D04D187588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158" y="3503536"/>
                <a:ext cx="540000" cy="54000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09798FB-5EB3-FEE7-2EE9-E523E9BB77B1}"/>
              </a:ext>
            </a:extLst>
          </p:cNvPr>
          <p:cNvCxnSpPr>
            <a:cxnSpLocks/>
            <a:stCxn id="53" idx="4"/>
            <a:endCxn id="57" idx="0"/>
          </p:cNvCxnSpPr>
          <p:nvPr/>
        </p:nvCxnSpPr>
        <p:spPr>
          <a:xfrm>
            <a:off x="6981282" y="3261028"/>
            <a:ext cx="11876" cy="242508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B774ABA-F89F-30E8-3D5E-C6BBBD742413}"/>
              </a:ext>
            </a:extLst>
          </p:cNvPr>
          <p:cNvCxnSpPr>
            <a:cxnSpLocks/>
            <a:stCxn id="204" idx="4"/>
            <a:endCxn id="52" idx="0"/>
          </p:cNvCxnSpPr>
          <p:nvPr/>
        </p:nvCxnSpPr>
        <p:spPr>
          <a:xfrm>
            <a:off x="6341936" y="1752859"/>
            <a:ext cx="639346" cy="18518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286FD26-1DA4-7211-E1EC-CD6BE82C55C4}"/>
                  </a:ext>
                </a:extLst>
              </p:cNvPr>
              <p:cNvSpPr txBox="1"/>
              <p:nvPr/>
            </p:nvSpPr>
            <p:spPr>
              <a:xfrm>
                <a:off x="4914011" y="4740268"/>
                <a:ext cx="31145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branches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do not share common upper bounds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286FD26-1DA4-7211-E1EC-CD6BE82C5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011" y="4740268"/>
                <a:ext cx="3114541" cy="830997"/>
              </a:xfrm>
              <a:prstGeom prst="rect">
                <a:avLst/>
              </a:prstGeom>
              <a:blipFill>
                <a:blip r:embed="rId18"/>
                <a:stretch>
                  <a:fillRect t="-1515" b="-757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6D088227-238F-90AA-22B1-F365FA4A52E1}"/>
              </a:ext>
            </a:extLst>
          </p:cNvPr>
          <p:cNvSpPr txBox="1"/>
          <p:nvPr/>
        </p:nvSpPr>
        <p:spPr>
          <a:xfrm>
            <a:off x="4945129" y="272749"/>
            <a:ext cx="3114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Branched Hypotheses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8BBCD059-C053-D521-5A27-A91ECB32B3EE}"/>
              </a:ext>
            </a:extLst>
          </p:cNvPr>
          <p:cNvSpPr/>
          <p:nvPr/>
        </p:nvSpPr>
        <p:spPr>
          <a:xfrm>
            <a:off x="8879656" y="978139"/>
            <a:ext cx="3121137" cy="3485778"/>
          </a:xfrm>
          <a:prstGeom prst="roundRect">
            <a:avLst/>
          </a:prstGeom>
          <a:noFill/>
          <a:ln w="3810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A0ADDCB-A4C0-E780-B187-AD931A95ACB2}"/>
                  </a:ext>
                </a:extLst>
              </p:cNvPr>
              <p:cNvSpPr/>
              <p:nvPr/>
            </p:nvSpPr>
            <p:spPr>
              <a:xfrm>
                <a:off x="9460760" y="179182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A0ADDCB-A4C0-E780-B187-AD931A95AC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760" y="1791822"/>
                <a:ext cx="540000" cy="54000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6AEF9F3-9C0E-F5CE-B5E2-408432639DF7}"/>
                  </a:ext>
                </a:extLst>
              </p:cNvPr>
              <p:cNvSpPr/>
              <p:nvPr/>
            </p:nvSpPr>
            <p:spPr>
              <a:xfrm>
                <a:off x="9460760" y="257480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6AEF9F3-9C0E-F5CE-B5E2-408432639D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760" y="2574809"/>
                <a:ext cx="540000" cy="540000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DE8BAD41-F38D-56CD-E40D-2EECB39A1012}"/>
                  </a:ext>
                </a:extLst>
              </p:cNvPr>
              <p:cNvSpPr/>
              <p:nvPr/>
            </p:nvSpPr>
            <p:spPr>
              <a:xfrm>
                <a:off x="10044177" y="1066640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DE8BAD41-F38D-56CD-E40D-2EECB39A10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4177" y="1066640"/>
                <a:ext cx="540000" cy="540000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E53EDC3-7BE3-7FB4-6A86-CE70C6CEAB21}"/>
              </a:ext>
            </a:extLst>
          </p:cNvPr>
          <p:cNvCxnSpPr>
            <a:cxnSpLocks/>
            <a:stCxn id="71" idx="4"/>
            <a:endCxn id="67" idx="0"/>
          </p:cNvCxnSpPr>
          <p:nvPr/>
        </p:nvCxnSpPr>
        <p:spPr>
          <a:xfrm flipH="1">
            <a:off x="9730760" y="1606640"/>
            <a:ext cx="583417" cy="18518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550F550-8E27-0A83-882F-540100D8BB0B}"/>
              </a:ext>
            </a:extLst>
          </p:cNvPr>
          <p:cNvCxnSpPr>
            <a:cxnSpLocks/>
            <a:stCxn id="67" idx="4"/>
            <a:endCxn id="69" idx="0"/>
          </p:cNvCxnSpPr>
          <p:nvPr/>
        </p:nvCxnSpPr>
        <p:spPr>
          <a:xfrm>
            <a:off x="9730760" y="2331822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ADD5A5DF-1167-5B3E-70F9-12DA97E6E3EB}"/>
                  </a:ext>
                </a:extLst>
              </p:cNvPr>
              <p:cNvSpPr/>
              <p:nvPr/>
            </p:nvSpPr>
            <p:spPr>
              <a:xfrm>
                <a:off x="9472636" y="3357317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ADD5A5DF-1167-5B3E-70F9-12DA97E6E3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636" y="3357317"/>
                <a:ext cx="540000" cy="540000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2813CBE-6919-0B1A-1661-4D0A06264B6D}"/>
              </a:ext>
            </a:extLst>
          </p:cNvPr>
          <p:cNvCxnSpPr>
            <a:cxnSpLocks/>
            <a:stCxn id="69" idx="4"/>
            <a:endCxn id="76" idx="0"/>
          </p:cNvCxnSpPr>
          <p:nvPr/>
        </p:nvCxnSpPr>
        <p:spPr>
          <a:xfrm>
            <a:off x="9730760" y="3114809"/>
            <a:ext cx="11876" cy="242508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6586391-FF44-46F7-E39D-CFC594E8A860}"/>
                  </a:ext>
                </a:extLst>
              </p:cNvPr>
              <p:cNvSpPr/>
              <p:nvPr/>
            </p:nvSpPr>
            <p:spPr>
              <a:xfrm>
                <a:off x="10683523" y="1791822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6586391-FF44-46F7-E39D-CFC594E8A8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3523" y="1791822"/>
                <a:ext cx="540000" cy="540000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AF49835C-B66D-DB61-F43E-98290066E01A}"/>
                  </a:ext>
                </a:extLst>
              </p:cNvPr>
              <p:cNvSpPr/>
              <p:nvPr/>
            </p:nvSpPr>
            <p:spPr>
              <a:xfrm>
                <a:off x="10683523" y="257480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AF49835C-B66D-DB61-F43E-98290066E0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3523" y="2574809"/>
                <a:ext cx="540000" cy="540000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97A078E-4801-8B61-3602-830490ED71DE}"/>
              </a:ext>
            </a:extLst>
          </p:cNvPr>
          <p:cNvCxnSpPr>
            <a:cxnSpLocks/>
            <a:stCxn id="78" idx="4"/>
            <a:endCxn id="79" idx="0"/>
          </p:cNvCxnSpPr>
          <p:nvPr/>
        </p:nvCxnSpPr>
        <p:spPr>
          <a:xfrm>
            <a:off x="10953523" y="2331822"/>
            <a:ext cx="0" cy="242987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0C71643D-663B-7F0A-7548-275771C6CA9A}"/>
                  </a:ext>
                </a:extLst>
              </p:cNvPr>
              <p:cNvSpPr/>
              <p:nvPr/>
            </p:nvSpPr>
            <p:spPr>
              <a:xfrm>
                <a:off x="10695399" y="3357317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0C71643D-663B-7F0A-7548-275771C6C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5399" y="3357317"/>
                <a:ext cx="540000" cy="540000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33B0801-557D-DE11-BFF6-99A875D17783}"/>
              </a:ext>
            </a:extLst>
          </p:cNvPr>
          <p:cNvCxnSpPr>
            <a:cxnSpLocks/>
            <a:stCxn id="79" idx="4"/>
            <a:endCxn id="81" idx="0"/>
          </p:cNvCxnSpPr>
          <p:nvPr/>
        </p:nvCxnSpPr>
        <p:spPr>
          <a:xfrm>
            <a:off x="10953523" y="3114809"/>
            <a:ext cx="11876" cy="242508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E681EDF-8352-76A7-9C9E-770E5C516715}"/>
              </a:ext>
            </a:extLst>
          </p:cNvPr>
          <p:cNvCxnSpPr>
            <a:cxnSpLocks/>
            <a:stCxn id="71" idx="4"/>
            <a:endCxn id="78" idx="0"/>
          </p:cNvCxnSpPr>
          <p:nvPr/>
        </p:nvCxnSpPr>
        <p:spPr>
          <a:xfrm>
            <a:off x="10314177" y="1606640"/>
            <a:ext cx="639346" cy="18518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8B050AB-9003-DBC6-3754-2390AC579CF6}"/>
                  </a:ext>
                </a:extLst>
              </p:cNvPr>
              <p:cNvSpPr txBox="1"/>
              <p:nvPr/>
            </p:nvSpPr>
            <p:spPr>
              <a:xfrm>
                <a:off x="8886252" y="4702201"/>
                <a:ext cx="31145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parameters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16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16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do not share common upper bounds</a:t>
                </a: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8B050AB-9003-DBC6-3754-2390AC579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252" y="4702201"/>
                <a:ext cx="3114541" cy="830997"/>
              </a:xfrm>
              <a:prstGeom prst="rect">
                <a:avLst/>
              </a:prstGeom>
              <a:blipFill>
                <a:blip r:embed="rId26"/>
                <a:stretch>
                  <a:fillRect t="-3030" b="-757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C941517-5C1C-06E3-9CB4-37237D6BF7CF}"/>
                  </a:ext>
                </a:extLst>
              </p:cNvPr>
              <p:cNvSpPr/>
              <p:nvPr/>
            </p:nvSpPr>
            <p:spPr>
              <a:xfrm>
                <a:off x="10065616" y="3785869"/>
                <a:ext cx="540000" cy="540000"/>
              </a:xfrm>
              <a:prstGeom prst="ellipse">
                <a:avLst/>
              </a:prstGeom>
              <a:noFill/>
              <a:ln w="19050">
                <a:solidFill>
                  <a:srgbClr val="FF7E79">
                    <a:alpha val="8690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NL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C941517-5C1C-06E3-9CB4-37237D6BF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5616" y="3785869"/>
                <a:ext cx="540000" cy="540000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  <a:ln w="19050">
                <a:solidFill>
                  <a:srgbClr val="FF7E79">
                    <a:alpha val="86906"/>
                  </a:srgbClr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77EF7F3-6437-D458-6D6B-A020B568731F}"/>
              </a:ext>
            </a:extLst>
          </p:cNvPr>
          <p:cNvCxnSpPr>
            <a:cxnSpLocks/>
            <a:stCxn id="85" idx="2"/>
            <a:endCxn id="76" idx="4"/>
          </p:cNvCxnSpPr>
          <p:nvPr/>
        </p:nvCxnSpPr>
        <p:spPr>
          <a:xfrm flipH="1" flipV="1">
            <a:off x="9742636" y="3897317"/>
            <a:ext cx="322980" cy="15855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D77529B-8939-6A9A-78F6-E58DEBE0F9E9}"/>
              </a:ext>
            </a:extLst>
          </p:cNvPr>
          <p:cNvCxnSpPr>
            <a:cxnSpLocks/>
            <a:stCxn id="81" idx="4"/>
            <a:endCxn id="85" idx="6"/>
          </p:cNvCxnSpPr>
          <p:nvPr/>
        </p:nvCxnSpPr>
        <p:spPr>
          <a:xfrm flipH="1">
            <a:off x="10605616" y="3897317"/>
            <a:ext cx="359783" cy="158552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092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F95FDD53-A279-A30B-92AE-46CB81327D66}"/>
              </a:ext>
            </a:extLst>
          </p:cNvPr>
          <p:cNvCxnSpPr>
            <a:cxnSpLocks/>
            <a:stCxn id="2" idx="1"/>
            <a:endCxn id="9" idx="1"/>
          </p:cNvCxnSpPr>
          <p:nvPr/>
        </p:nvCxnSpPr>
        <p:spPr>
          <a:xfrm rot="10800000" flipH="1" flipV="1">
            <a:off x="3246444" y="2130628"/>
            <a:ext cx="5595" cy="1741314"/>
          </a:xfrm>
          <a:prstGeom prst="curvedConnector3">
            <a:avLst>
              <a:gd name="adj1" fmla="val -22234298"/>
            </a:avLst>
          </a:prstGeom>
          <a:ln w="19050">
            <a:solidFill>
              <a:srgbClr val="FF7E79"/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6189B37-CDC3-E930-3A3D-08CD01F72ACC}"/>
              </a:ext>
            </a:extLst>
          </p:cNvPr>
          <p:cNvSpPr/>
          <p:nvPr/>
        </p:nvSpPr>
        <p:spPr>
          <a:xfrm>
            <a:off x="7095111" y="5114020"/>
            <a:ext cx="3491825" cy="50322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F72FB8-AD45-C121-BC17-38D399438433}"/>
              </a:ext>
            </a:extLst>
          </p:cNvPr>
          <p:cNvSpPr/>
          <p:nvPr/>
        </p:nvSpPr>
        <p:spPr>
          <a:xfrm>
            <a:off x="4790456" y="3611470"/>
            <a:ext cx="5798553" cy="51127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D088227-238F-90AA-22B1-F365FA4A52E1}"/>
                  </a:ext>
                </a:extLst>
              </p:cNvPr>
              <p:cNvSpPr txBox="1"/>
              <p:nvPr/>
            </p:nvSpPr>
            <p:spPr>
              <a:xfrm>
                <a:off x="1602685" y="22246"/>
                <a:ext cx="9799427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Transform values from the real line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to an ordered probability vector </a:t>
                </a:r>
                <a:endParaRPr lang="en-US" sz="2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24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GB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u</a:t>
                </a:r>
                <a:r>
                  <a:rPr lang="en-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sing the stick-breaking transformation</a:t>
                </a:r>
              </a:p>
              <a:p>
                <a:pPr algn="ctr"/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D088227-238F-90AA-22B1-F365FA4A5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685" y="22246"/>
                <a:ext cx="9799427" cy="1138773"/>
              </a:xfrm>
              <a:prstGeom prst="rect">
                <a:avLst/>
              </a:prstGeom>
              <a:blipFill>
                <a:blip r:embed="rId2"/>
                <a:stretch>
                  <a:fillRect l="-648" t="-3297" r="-129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23A9897-5DEA-D842-18CC-1760BFE3881B}"/>
              </a:ext>
            </a:extLst>
          </p:cNvPr>
          <p:cNvSpPr/>
          <p:nvPr/>
        </p:nvSpPr>
        <p:spPr>
          <a:xfrm>
            <a:off x="3246445" y="1874989"/>
            <a:ext cx="7343181" cy="51127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6D0B9F-7B10-6557-C520-6A42A1925799}"/>
              </a:ext>
            </a:extLst>
          </p:cNvPr>
          <p:cNvSpPr/>
          <p:nvPr/>
        </p:nvSpPr>
        <p:spPr>
          <a:xfrm>
            <a:off x="3252040" y="3621438"/>
            <a:ext cx="1538416" cy="501007"/>
          </a:xfrm>
          <a:prstGeom prst="rect">
            <a:avLst/>
          </a:prstGeom>
          <a:solidFill>
            <a:srgbClr val="FF7E79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947F78-8AB1-A052-0D57-35678975F260}"/>
              </a:ext>
            </a:extLst>
          </p:cNvPr>
          <p:cNvSpPr/>
          <p:nvPr/>
        </p:nvSpPr>
        <p:spPr>
          <a:xfrm>
            <a:off x="4776535" y="5114323"/>
            <a:ext cx="2318576" cy="502920"/>
          </a:xfrm>
          <a:prstGeom prst="rect">
            <a:avLst/>
          </a:prstGeom>
          <a:solidFill>
            <a:srgbClr val="FF7E79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EE3EE6-4549-6020-226E-655B75D8F2D8}"/>
                  </a:ext>
                </a:extLst>
              </p:cNvPr>
              <p:cNvSpPr txBox="1"/>
              <p:nvPr/>
            </p:nvSpPr>
            <p:spPr>
              <a:xfrm>
                <a:off x="0" y="2540697"/>
                <a:ext cx="2287082" cy="782271"/>
              </a:xfrm>
              <a:prstGeom prst="flowChartAlternateProcess">
                <a:avLst/>
              </a:prstGeom>
              <a:solidFill>
                <a:schemeClr val="bg2"/>
              </a:solidFill>
              <a:ln w="19050">
                <a:solidFill>
                  <a:srgbClr val="FF7E7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Step 1: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−0 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NL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Courier New" panose="02070309020205020404" pitchFamily="49" charset="0"/>
                  </a:rPr>
                  <a:t> + 0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EE3EE6-4549-6020-226E-655B75D8F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40697"/>
                <a:ext cx="2287082" cy="782271"/>
              </a:xfrm>
              <a:prstGeom prst="flowChartAlternateProcess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7E79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B5FF2B-330E-D8FC-1B44-A7923E21B170}"/>
              </a:ext>
            </a:extLst>
          </p:cNvPr>
          <p:cNvCxnSpPr>
            <a:cxnSpLocks/>
          </p:cNvCxnSpPr>
          <p:nvPr/>
        </p:nvCxnSpPr>
        <p:spPr>
          <a:xfrm>
            <a:off x="5716289" y="1803620"/>
            <a:ext cx="0" cy="582647"/>
          </a:xfrm>
          <a:prstGeom prst="line">
            <a:avLst/>
          </a:prstGeom>
          <a:ln w="28575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86438C5-AB24-383F-49F0-BBAF8E602E47}"/>
              </a:ext>
            </a:extLst>
          </p:cNvPr>
          <p:cNvSpPr/>
          <p:nvPr/>
        </p:nvSpPr>
        <p:spPr>
          <a:xfrm>
            <a:off x="3184878" y="1822297"/>
            <a:ext cx="180000" cy="180000"/>
          </a:xfrm>
          <a:prstGeom prst="ellipse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FCCF0A2-F00F-7A2F-8E09-73B68C6FBBD3}"/>
              </a:ext>
            </a:extLst>
          </p:cNvPr>
          <p:cNvSpPr/>
          <p:nvPr/>
        </p:nvSpPr>
        <p:spPr>
          <a:xfrm>
            <a:off x="5626289" y="1793652"/>
            <a:ext cx="180000" cy="180000"/>
          </a:xfrm>
          <a:prstGeom prst="ellipse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6A2FED-1D18-0726-4592-0998132B645A}"/>
              </a:ext>
            </a:extLst>
          </p:cNvPr>
          <p:cNvSpPr txBox="1"/>
          <p:nvPr/>
        </p:nvSpPr>
        <p:spPr>
          <a:xfrm>
            <a:off x="2234376" y="999124"/>
            <a:ext cx="2533242" cy="646986"/>
          </a:xfrm>
          <a:prstGeom prst="flowChartAlternateProcess">
            <a:avLst/>
          </a:prstGeom>
          <a:ln w="19050">
            <a:solidFill>
              <a:srgbClr val="FF7E79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 is the lower bound of the smallest element</a:t>
            </a:r>
            <a:endParaRPr lang="en-NL" sz="16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C569C20-6779-0FD3-59D2-D2E8E8718D90}"/>
                  </a:ext>
                </a:extLst>
              </p:cNvPr>
              <p:cNvSpPr txBox="1"/>
              <p:nvPr/>
            </p:nvSpPr>
            <p:spPr>
              <a:xfrm>
                <a:off x="5067158" y="874051"/>
                <a:ext cx="3773865" cy="760634"/>
              </a:xfrm>
              <a:prstGeom prst="flowChartAlternateProcess">
                <a:avLst/>
              </a:prstGeom>
              <a:noFill/>
              <a:ln w="19050">
                <a:solidFill>
                  <a:srgbClr val="FF7E79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With 3 elements in the stick, the smallest one cannot be larger than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NL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C569C20-6779-0FD3-59D2-D2E8E8718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158" y="874051"/>
                <a:ext cx="3773865" cy="760634"/>
              </a:xfrm>
              <a:prstGeom prst="flowChartAlternateProcess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7E79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Brace 33">
            <a:extLst>
              <a:ext uri="{FF2B5EF4-FFF2-40B4-BE49-F238E27FC236}">
                <a16:creationId xmlns:a16="http://schemas.microsoft.com/office/drawing/2014/main" id="{005A8D7D-1A77-E1F9-6E9C-B7B348A9C215}"/>
              </a:ext>
            </a:extLst>
          </p:cNvPr>
          <p:cNvSpPr/>
          <p:nvPr/>
        </p:nvSpPr>
        <p:spPr>
          <a:xfrm>
            <a:off x="10676387" y="1697667"/>
            <a:ext cx="511279" cy="859530"/>
          </a:xfrm>
          <a:prstGeom prst="rightBrace">
            <a:avLst>
              <a:gd name="adj1" fmla="val 8333"/>
              <a:gd name="adj2" fmla="val 50132"/>
            </a:avLst>
          </a:prstGeom>
          <a:ln w="15875">
            <a:solidFill>
              <a:srgbClr val="FF7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23D600-7A1B-49F2-4581-BB6F5EF18B5F}"/>
              </a:ext>
            </a:extLst>
          </p:cNvPr>
          <p:cNvSpPr txBox="1"/>
          <p:nvPr/>
        </p:nvSpPr>
        <p:spPr>
          <a:xfrm>
            <a:off x="11208156" y="1913456"/>
            <a:ext cx="1864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Stick of length 1</a:t>
            </a:r>
            <a:endParaRPr lang="en-NL" sz="20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7795299-CAF1-94DC-80F3-21C69001DC97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3274878" y="1641263"/>
            <a:ext cx="0" cy="181034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1D12BBB-FF5D-9C95-2116-A45710031232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5716289" y="1641263"/>
            <a:ext cx="0" cy="152389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5D8BFC75-BC4D-22D9-9660-9F5CB148A955}"/>
              </a:ext>
            </a:extLst>
          </p:cNvPr>
          <p:cNvSpPr/>
          <p:nvPr/>
        </p:nvSpPr>
        <p:spPr>
          <a:xfrm>
            <a:off x="4693369" y="3521470"/>
            <a:ext cx="180000" cy="180000"/>
          </a:xfrm>
          <a:prstGeom prst="ellipse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C355BDE-F54F-88AC-231A-4AC260736823}"/>
              </a:ext>
            </a:extLst>
          </p:cNvPr>
          <p:cNvCxnSpPr>
            <a:cxnSpLocks/>
          </p:cNvCxnSpPr>
          <p:nvPr/>
        </p:nvCxnSpPr>
        <p:spPr>
          <a:xfrm>
            <a:off x="7454297" y="3575785"/>
            <a:ext cx="0" cy="546660"/>
          </a:xfrm>
          <a:prstGeom prst="line">
            <a:avLst/>
          </a:prstGeom>
          <a:ln w="28575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FA0C4804-69E1-16A5-AC64-4BFA4E47E8E1}"/>
              </a:ext>
            </a:extLst>
          </p:cNvPr>
          <p:cNvSpPr/>
          <p:nvPr/>
        </p:nvSpPr>
        <p:spPr>
          <a:xfrm>
            <a:off x="7364297" y="3476470"/>
            <a:ext cx="180000" cy="180000"/>
          </a:xfrm>
          <a:prstGeom prst="ellipse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8282EE8-2550-B160-365E-187DEA6E48BA}"/>
                  </a:ext>
                </a:extLst>
              </p:cNvPr>
              <p:cNvSpPr txBox="1"/>
              <p:nvPr/>
            </p:nvSpPr>
            <p:spPr>
              <a:xfrm>
                <a:off x="6158488" y="2455373"/>
                <a:ext cx="3584979" cy="919401"/>
              </a:xfrm>
              <a:prstGeom prst="flowChartAlternateProcess">
                <a:avLst/>
              </a:prstGeom>
              <a:noFill/>
              <a:ln w="19050">
                <a:solidFill>
                  <a:srgbClr val="FF7E79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The upper bound is the length of the remaining stick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1 −</m:t>
                        </m:r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16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 </m:t>
                    </m:r>
                  </m:oMath>
                </a14:m>
                <a:r>
                  <a:rPr lang="en-GB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divided by the number of remaining elements</a:t>
                </a:r>
                <a:endParaRPr lang="en-NL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8282EE8-2550-B160-365E-187DEA6E4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488" y="2455373"/>
                <a:ext cx="3584979" cy="919401"/>
              </a:xfrm>
              <a:prstGeom prst="flowChartAlternateProcess">
                <a:avLst/>
              </a:prstGeom>
              <a:blipFill>
                <a:blip r:embed="rId5"/>
                <a:stretch>
                  <a:fillRect b="-1333"/>
                </a:stretch>
              </a:blipFill>
              <a:ln w="19050">
                <a:solidFill>
                  <a:srgbClr val="FF7E79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D3E14CC-494C-ACF4-3264-A5E4766D6358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7454297" y="3381352"/>
            <a:ext cx="0" cy="95118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D8067E9-2315-195A-FFCC-6071DA645E61}"/>
                  </a:ext>
                </a:extLst>
              </p:cNvPr>
              <p:cNvSpPr txBox="1"/>
              <p:nvPr/>
            </p:nvSpPr>
            <p:spPr>
              <a:xfrm>
                <a:off x="3264665" y="2568741"/>
                <a:ext cx="2531768" cy="646986"/>
              </a:xfrm>
              <a:prstGeom prst="flowChartAlternateProcess">
                <a:avLst/>
              </a:prstGeom>
              <a:ln w="19050">
                <a:solidFill>
                  <a:srgbClr val="FF7E79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NL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the lower bound for the second element</a:t>
                </a: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D8067E9-2315-195A-FFCC-6071DA645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665" y="2568741"/>
                <a:ext cx="2531768" cy="646986"/>
              </a:xfrm>
              <a:prstGeom prst="flowChartAlternateProcess">
                <a:avLst/>
              </a:prstGeom>
              <a:blipFill>
                <a:blip r:embed="rId6"/>
                <a:stretch>
                  <a:fillRect b="-3704"/>
                </a:stretch>
              </a:blipFill>
              <a:ln w="19050">
                <a:solidFill>
                  <a:srgbClr val="FF7E79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48D48F6-E775-220B-591C-467E36D735BB}"/>
              </a:ext>
            </a:extLst>
          </p:cNvPr>
          <p:cNvCxnSpPr>
            <a:cxnSpLocks/>
            <a:stCxn id="51" idx="0"/>
          </p:cNvCxnSpPr>
          <p:nvPr/>
        </p:nvCxnSpPr>
        <p:spPr>
          <a:xfrm flipV="1">
            <a:off x="4783369" y="3225695"/>
            <a:ext cx="0" cy="295775"/>
          </a:xfrm>
          <a:prstGeom prst="line">
            <a:avLst/>
          </a:prstGeom>
          <a:ln w="19050">
            <a:solidFill>
              <a:srgbClr val="FF7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urved Connector 92">
            <a:extLst>
              <a:ext uri="{FF2B5EF4-FFF2-40B4-BE49-F238E27FC236}">
                <a16:creationId xmlns:a16="http://schemas.microsoft.com/office/drawing/2014/main" id="{03824274-D278-ED8E-D8CE-32D12A01C011}"/>
              </a:ext>
            </a:extLst>
          </p:cNvPr>
          <p:cNvCxnSpPr>
            <a:cxnSpLocks/>
            <a:stCxn id="9" idx="1"/>
            <a:endCxn id="100" idx="1"/>
          </p:cNvCxnSpPr>
          <p:nvPr/>
        </p:nvCxnSpPr>
        <p:spPr>
          <a:xfrm rot="10800000" flipV="1">
            <a:off x="3229202" y="3871942"/>
            <a:ext cx="22838" cy="1492534"/>
          </a:xfrm>
          <a:prstGeom prst="curvedConnector3">
            <a:avLst>
              <a:gd name="adj1" fmla="val 6008915"/>
            </a:avLst>
          </a:prstGeom>
          <a:ln w="19050">
            <a:solidFill>
              <a:srgbClr val="FF7E79"/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7262452D-8E4A-002F-C1D4-A5FEC3CE6815}"/>
              </a:ext>
            </a:extLst>
          </p:cNvPr>
          <p:cNvSpPr/>
          <p:nvPr/>
        </p:nvSpPr>
        <p:spPr>
          <a:xfrm>
            <a:off x="3229202" y="5111710"/>
            <a:ext cx="1538416" cy="505531"/>
          </a:xfrm>
          <a:prstGeom prst="rect">
            <a:avLst/>
          </a:prstGeom>
          <a:solidFill>
            <a:srgbClr val="FF7E79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24CC0EE-AD86-208C-AEAD-17FFEE20F32B}"/>
                  </a:ext>
                </a:extLst>
              </p:cNvPr>
              <p:cNvSpPr txBox="1"/>
              <p:nvPr/>
            </p:nvSpPr>
            <p:spPr>
              <a:xfrm>
                <a:off x="0" y="4277295"/>
                <a:ext cx="3027296" cy="787237"/>
              </a:xfrm>
              <a:prstGeom prst="flowChartAlternateProcess">
                <a:avLst/>
              </a:prstGeom>
              <a:solidFill>
                <a:schemeClr val="bg2"/>
              </a:solidFill>
              <a:ln w="19050">
                <a:solidFill>
                  <a:srgbClr val="FF7E79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Step 2: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1 −</m:t>
                                </m:r>
                                <m:r>
                                  <m:rPr>
                                    <m:lit/>
                                  </m:rPr>
                                  <a:rPr lang="en-US" sz="1600" b="0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NL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Courier New" panose="02070309020205020404" pitchFamily="49" charset="0"/>
                  </a:rPr>
                  <a:t> </a:t>
                </a:r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24CC0EE-AD86-208C-AEAD-17FFEE20F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77295"/>
                <a:ext cx="3027296" cy="787237"/>
              </a:xfrm>
              <a:prstGeom prst="flowChartAlternateProcess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FF7E79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892E3A0-4C74-014A-3761-8F6EF67E6E9F}"/>
                  </a:ext>
                </a:extLst>
              </p:cNvPr>
              <p:cNvSpPr txBox="1"/>
              <p:nvPr/>
            </p:nvSpPr>
            <p:spPr>
              <a:xfrm>
                <a:off x="3274878" y="3640869"/>
                <a:ext cx="1492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892E3A0-4C74-014A-3761-8F6EF67E6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878" y="3640869"/>
                <a:ext cx="149274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E7D4B4A8-7911-2307-DA9C-04EEA60A5C03}"/>
                  </a:ext>
                </a:extLst>
              </p:cNvPr>
              <p:cNvSpPr txBox="1"/>
              <p:nvPr/>
            </p:nvSpPr>
            <p:spPr>
              <a:xfrm>
                <a:off x="3240620" y="5146740"/>
                <a:ext cx="1492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E7D4B4A8-7911-2307-DA9C-04EEA60A5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620" y="5146740"/>
                <a:ext cx="1492740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F07BBF3-AE3E-DFC3-071B-A5B8B2C831CE}"/>
                  </a:ext>
                </a:extLst>
              </p:cNvPr>
              <p:cNvSpPr txBox="1"/>
              <p:nvPr/>
            </p:nvSpPr>
            <p:spPr>
              <a:xfrm>
                <a:off x="5189453" y="5111710"/>
                <a:ext cx="1492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F07BBF3-AE3E-DFC3-071B-A5B8B2C83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453" y="5111710"/>
                <a:ext cx="1492740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ectangle 157">
            <a:extLst>
              <a:ext uri="{FF2B5EF4-FFF2-40B4-BE49-F238E27FC236}">
                <a16:creationId xmlns:a16="http://schemas.microsoft.com/office/drawing/2014/main" id="{E341894A-5424-F8FB-E985-18B4083158F8}"/>
              </a:ext>
            </a:extLst>
          </p:cNvPr>
          <p:cNvSpPr/>
          <p:nvPr/>
        </p:nvSpPr>
        <p:spPr>
          <a:xfrm>
            <a:off x="4732702" y="6578527"/>
            <a:ext cx="2318576" cy="502920"/>
          </a:xfrm>
          <a:prstGeom prst="rect">
            <a:avLst/>
          </a:prstGeom>
          <a:solidFill>
            <a:srgbClr val="FF7E79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0B02D89-E2C8-1D17-DFCA-BE8BEBC83E25}"/>
              </a:ext>
            </a:extLst>
          </p:cNvPr>
          <p:cNvSpPr/>
          <p:nvPr/>
        </p:nvSpPr>
        <p:spPr>
          <a:xfrm>
            <a:off x="3188970" y="6578527"/>
            <a:ext cx="1538416" cy="504748"/>
          </a:xfrm>
          <a:prstGeom prst="rect">
            <a:avLst/>
          </a:prstGeom>
          <a:solidFill>
            <a:srgbClr val="FF7E79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2B030632-2549-87A7-14B2-D051D71ADD4F}"/>
                  </a:ext>
                </a:extLst>
              </p:cNvPr>
              <p:cNvSpPr txBox="1"/>
              <p:nvPr/>
            </p:nvSpPr>
            <p:spPr>
              <a:xfrm>
                <a:off x="3190412" y="6650151"/>
                <a:ext cx="1492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NL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2B030632-2549-87A7-14B2-D051D71AD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412" y="6650151"/>
                <a:ext cx="149274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9F96739B-AB56-2565-8CD6-35A01F24E9BF}"/>
                  </a:ext>
                </a:extLst>
              </p:cNvPr>
              <p:cNvSpPr txBox="1"/>
              <p:nvPr/>
            </p:nvSpPr>
            <p:spPr>
              <a:xfrm>
                <a:off x="5171709" y="6632697"/>
                <a:ext cx="1492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NL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9F96739B-AB56-2565-8CD6-35A01F24E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709" y="6632697"/>
                <a:ext cx="1492740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Rectangle 164">
            <a:extLst>
              <a:ext uri="{FF2B5EF4-FFF2-40B4-BE49-F238E27FC236}">
                <a16:creationId xmlns:a16="http://schemas.microsoft.com/office/drawing/2014/main" id="{6B1850A5-C984-D633-3331-B8E84C3EE224}"/>
              </a:ext>
            </a:extLst>
          </p:cNvPr>
          <p:cNvSpPr/>
          <p:nvPr/>
        </p:nvSpPr>
        <p:spPr>
          <a:xfrm>
            <a:off x="7054246" y="6578527"/>
            <a:ext cx="3540869" cy="502920"/>
          </a:xfrm>
          <a:prstGeom prst="rect">
            <a:avLst/>
          </a:prstGeom>
          <a:solidFill>
            <a:srgbClr val="FF7E79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E4090DC8-6E02-4B96-016E-43DDD3E7228C}"/>
                  </a:ext>
                </a:extLst>
              </p:cNvPr>
              <p:cNvSpPr txBox="1"/>
              <p:nvPr/>
            </p:nvSpPr>
            <p:spPr>
              <a:xfrm>
                <a:off x="8070026" y="6632126"/>
                <a:ext cx="14927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NL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E4090DC8-6E02-4B96-016E-43DDD3E72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026" y="6632126"/>
                <a:ext cx="1492740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7" name="Curved Connector 166">
            <a:extLst>
              <a:ext uri="{FF2B5EF4-FFF2-40B4-BE49-F238E27FC236}">
                <a16:creationId xmlns:a16="http://schemas.microsoft.com/office/drawing/2014/main" id="{21BAAF68-762B-0104-AE91-A447341429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190412" y="5356626"/>
            <a:ext cx="50208" cy="1503411"/>
          </a:xfrm>
          <a:prstGeom prst="curvedConnector3">
            <a:avLst>
              <a:gd name="adj1" fmla="val 2270644"/>
            </a:avLst>
          </a:prstGeom>
          <a:ln w="19050">
            <a:solidFill>
              <a:srgbClr val="FF7E79"/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1856B1AA-D91A-B61B-32CE-28F181F9FE88}"/>
              </a:ext>
            </a:extLst>
          </p:cNvPr>
          <p:cNvSpPr txBox="1"/>
          <p:nvPr/>
        </p:nvSpPr>
        <p:spPr>
          <a:xfrm>
            <a:off x="0" y="5752214"/>
            <a:ext cx="2699261" cy="919401"/>
          </a:xfrm>
          <a:prstGeom prst="flowChartAlternateProcess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Step 3:</a:t>
            </a:r>
            <a:endParaRPr lang="en-NL" sz="16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N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 vlaue of the last element </a:t>
            </a:r>
          </a:p>
          <a:p>
            <a:r>
              <a:rPr lang="en-N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is the remainder of the stick</a:t>
            </a:r>
          </a:p>
        </p:txBody>
      </p:sp>
    </p:spTree>
    <p:extLst>
      <p:ext uri="{BB962C8B-B14F-4D97-AF65-F5344CB8AC3E}">
        <p14:creationId xmlns:p14="http://schemas.microsoft.com/office/powerpoint/2010/main" val="77952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4C4C04-C37C-3DF9-1C4F-A1C4CF9C125E}"/>
              </a:ext>
            </a:extLst>
          </p:cNvPr>
          <p:cNvCxnSpPr/>
          <p:nvPr/>
        </p:nvCxnSpPr>
        <p:spPr>
          <a:xfrm flipH="1">
            <a:off x="113604" y="3662513"/>
            <a:ext cx="12421296" cy="0"/>
          </a:xfrm>
          <a:prstGeom prst="line">
            <a:avLst/>
          </a:prstGeom>
          <a:ln w="101600">
            <a:solidFill>
              <a:srgbClr val="FF7E79">
                <a:alpha val="40741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56E62CD8-B381-0ABE-F844-9FE47A3BAE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99330" y="514361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655CFA1-234D-16B7-CBC3-4A781F260B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81316" y="4822094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22FFA6E-1276-7D84-015D-67125E521E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90323" y="514361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22C1DFC-EE7F-4DA5-5814-B9E158FEAB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81316" y="514361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954B8AF-CB6C-71B8-AB5F-2484A569D9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21037" y="4809394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8253104-29AA-6EBF-57E5-145CDC88B05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308337" y="514361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8E2B02D-F812-73EC-CE10-043D7B84FEA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7344" y="514361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D0F22A2-54CB-6B5E-9716-ADA0704248E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7344" y="4805734"/>
            <a:ext cx="2160000" cy="2160000"/>
          </a:xfrm>
          <a:prstGeom prst="rect">
            <a:avLst/>
          </a:prstGeom>
          <a:ln w="19050">
            <a:solidFill>
              <a:srgbClr val="FF7E79"/>
            </a:solidFill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E56A79A-339C-1915-9661-1FF7B3F5717E}"/>
              </a:ext>
            </a:extLst>
          </p:cNvPr>
          <p:cNvSpPr txBox="1"/>
          <p:nvPr/>
        </p:nvSpPr>
        <p:spPr>
          <a:xfrm>
            <a:off x="-125001" y="-91772"/>
            <a:ext cx="2536436" cy="646986"/>
          </a:xfrm>
          <a:prstGeom prst="flowChartAlternateProcess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 half of the samples to 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fit the proposal distribution</a:t>
            </a:r>
            <a:endParaRPr lang="en-NL" sz="1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95951B-C5EF-F6FB-498D-516B3B215EDB}"/>
                  </a:ext>
                </a:extLst>
              </p:cNvPr>
              <p:cNvSpPr txBox="1"/>
              <p:nvPr/>
            </p:nvSpPr>
            <p:spPr>
              <a:xfrm>
                <a:off x="2449534" y="-79072"/>
                <a:ext cx="2182405" cy="646986"/>
              </a:xfrm>
              <a:prstGeom prst="flowChartAlternateProcess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Compute</a:t>
                </a:r>
                <a:r>
                  <a:rPr lang="en-US" sz="1600" b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𝜇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Σ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fit a MV normal</a:t>
                </a:r>
                <a:endParaRPr lang="en-NL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95951B-C5EF-F6FB-498D-516B3B215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534" y="-79072"/>
                <a:ext cx="2182405" cy="646986"/>
              </a:xfrm>
              <a:prstGeom prst="flowChartAlternateProcess">
                <a:avLst/>
              </a:prstGeom>
              <a:blipFill>
                <a:blip r:embed="rId10"/>
                <a:stretch>
                  <a:fillRect b="-576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5E2090-8F9F-C3B1-EF72-3627AD59A376}"/>
                  </a:ext>
                </a:extLst>
              </p:cNvPr>
              <p:cNvSpPr txBox="1"/>
              <p:nvPr/>
            </p:nvSpPr>
            <p:spPr>
              <a:xfrm>
                <a:off x="4699043" y="3055644"/>
                <a:ext cx="2014688" cy="1191816"/>
              </a:xfrm>
              <a:prstGeom prst="flowChartAlternateProcess">
                <a:avLst/>
              </a:prstGeom>
              <a:solidFill>
                <a:schemeClr val="bg2"/>
              </a:solidFill>
              <a:ln w="19050">
                <a:solidFill>
                  <a:srgbClr val="FF7E79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Sample from the MV normal with mean vector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𝜇</m:t>
                    </m:r>
                  </m:oMath>
                </a14:m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covariance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Σ</m:t>
                    </m:r>
                  </m:oMath>
                </a14:m>
                <a:endParaRPr lang="en-NL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5E2090-8F9F-C3B1-EF72-3627AD59A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43" y="3055644"/>
                <a:ext cx="2014688" cy="1191816"/>
              </a:xfrm>
              <a:prstGeom prst="flowChartAlternateProcess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rgbClr val="FF7E79"/>
                </a:solidFill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431909CF-34AE-522C-E95D-40AE161F1888}"/>
              </a:ext>
            </a:extLst>
          </p:cNvPr>
          <p:cNvSpPr txBox="1"/>
          <p:nvPr/>
        </p:nvSpPr>
        <p:spPr>
          <a:xfrm>
            <a:off x="7065253" y="3064675"/>
            <a:ext cx="1980000" cy="1191816"/>
          </a:xfrm>
          <a:prstGeom prst="flowChartAlternateProcess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Transform samples from the proposal to the constrained probability space</a:t>
            </a:r>
            <a:endParaRPr lang="en-NL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523864-A867-E4A3-D4DB-4DA1A83F6DDE}"/>
              </a:ext>
            </a:extLst>
          </p:cNvPr>
          <p:cNvSpPr txBox="1"/>
          <p:nvPr/>
        </p:nvSpPr>
        <p:spPr>
          <a:xfrm>
            <a:off x="9256115" y="2783229"/>
            <a:ext cx="2014688" cy="1736646"/>
          </a:xfrm>
          <a:prstGeom prst="flowChartAlternateProcess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Evaluate samples from the MV normal and the constrained prior at the respective other density</a:t>
            </a:r>
            <a:endParaRPr lang="en-NL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F68B7D-18B3-9930-13DC-4158FEA2275B}"/>
              </a:ext>
            </a:extLst>
          </p:cNvPr>
          <p:cNvSpPr txBox="1"/>
          <p:nvPr/>
        </p:nvSpPr>
        <p:spPr>
          <a:xfrm>
            <a:off x="2398337" y="3328059"/>
            <a:ext cx="1980000" cy="646986"/>
          </a:xfrm>
          <a:prstGeom prst="flowChartAlternateProcess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Transform samples to the real line </a:t>
            </a:r>
            <a:endParaRPr lang="en-NL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5F7C64-96F9-C76A-A5D4-03598EB31F11}"/>
              </a:ext>
            </a:extLst>
          </p:cNvPr>
          <p:cNvSpPr txBox="1"/>
          <p:nvPr/>
        </p:nvSpPr>
        <p:spPr>
          <a:xfrm>
            <a:off x="-98102" y="6965734"/>
            <a:ext cx="2276324" cy="374571"/>
          </a:xfrm>
          <a:prstGeom prst="flowChartAlternateProcess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Keep half of the samples</a:t>
            </a:r>
            <a:endParaRPr lang="en-NL" sz="1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E43138-9F13-EBA8-3D8D-4DB314F33E07}"/>
              </a:ext>
            </a:extLst>
          </p:cNvPr>
          <p:cNvSpPr txBox="1"/>
          <p:nvPr/>
        </p:nvSpPr>
        <p:spPr>
          <a:xfrm>
            <a:off x="0" y="3197899"/>
            <a:ext cx="2014688" cy="919401"/>
          </a:xfrm>
          <a:prstGeom prst="flowChartAlternateProcess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Draw samples from the constrained prior distribution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90B605-980F-9954-4AB4-45C3E166670B}"/>
              </a:ext>
            </a:extLst>
          </p:cNvPr>
          <p:cNvSpPr txBox="1"/>
          <p:nvPr/>
        </p:nvSpPr>
        <p:spPr>
          <a:xfrm>
            <a:off x="11618629" y="3191852"/>
            <a:ext cx="1386171" cy="919401"/>
          </a:xfrm>
          <a:prstGeom prst="flowChartAlternateProcess">
            <a:avLst/>
          </a:prstGeom>
          <a:solidFill>
            <a:schemeClr val="bg2"/>
          </a:solidFill>
          <a:ln w="19050">
            <a:solidFill>
              <a:srgbClr val="FF7E7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Run bridge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sampling </a:t>
            </a: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algorithm</a:t>
            </a:r>
            <a:endParaRPr lang="en-NL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5A420-20E7-67E2-BB36-F9917A4D61CD}"/>
              </a:ext>
            </a:extLst>
          </p:cNvPr>
          <p:cNvSpPr txBox="1"/>
          <p:nvPr/>
        </p:nvSpPr>
        <p:spPr>
          <a:xfrm>
            <a:off x="5960795" y="5011305"/>
            <a:ext cx="2562970" cy="919401"/>
          </a:xfrm>
          <a:prstGeom prst="flowChartAlternateProcess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N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Courier New" panose="02070309020205020404" pitchFamily="49" charset="0"/>
              </a:rPr>
              <a:t>The biggest challenge in this routine lies in the stick-breaking transformation</a:t>
            </a:r>
          </a:p>
        </p:txBody>
      </p: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423EF9A8-172A-C449-755C-992CCF0E9ADC}"/>
              </a:ext>
            </a:extLst>
          </p:cNvPr>
          <p:cNvCxnSpPr>
            <a:cxnSpLocks/>
            <a:stCxn id="61" idx="2"/>
            <a:endCxn id="3" idx="0"/>
          </p:cNvCxnSpPr>
          <p:nvPr/>
        </p:nvCxnSpPr>
        <p:spPr>
          <a:xfrm rot="5400000">
            <a:off x="7271360" y="4227412"/>
            <a:ext cx="754814" cy="812973"/>
          </a:xfrm>
          <a:prstGeom prst="bentConnector3">
            <a:avLst/>
          </a:prstGeom>
          <a:ln w="19050">
            <a:solidFill>
              <a:srgbClr val="FF7E79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222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935</TotalTime>
  <Words>568</Words>
  <Application>Microsoft Macintosh PowerPoint</Application>
  <PresentationFormat>Custom</PresentationFormat>
  <Paragraphs>145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Sara</dc:creator>
  <cp:lastModifiedBy>Alexandra Sarafoglou</cp:lastModifiedBy>
  <cp:revision>51</cp:revision>
  <dcterms:created xsi:type="dcterms:W3CDTF">2020-08-24T13:23:40Z</dcterms:created>
  <dcterms:modified xsi:type="dcterms:W3CDTF">2022-08-17T19:16:27Z</dcterms:modified>
</cp:coreProperties>
</file>